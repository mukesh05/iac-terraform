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5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1 of 9: AI-Native SDLC. Data points, observations and objectives are drawn from the RFP main document and Appendices 1 to 5. Improvement themes and opportunity areas are Capgemini's proposed position for the solution team to validate. Evidence: RFP Sections 2.2.3, 2.2.4, 4.4 and 4.10  |  Appendix 1: AI and build-tool landscape  |  Appendix 2: role and scope definition  |  Appendix 5: transformation levers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2 of 9: Cloud and Application Modernization. Data points, observations and objectives are drawn from the RFP main document and Appendices 1 to 5. Improvement themes and opportunity areas are Capgemini's proposed position for the solution team to validate. Evidence: RFP Sections 2.1, 2.2.6, 3.1.2, 4.8 and 4.11  |  Appendix 1: architecture building blocks  |  Appendix 3: cloud, platform and application profile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3 of 9: Mainframe and Legacy Modernization. Data points, observations and objectives are drawn from the RFP main document and Appendices 1 to 5. Improvement themes and opportunity areas are Capgemini's proposed position for the solution team to validate. Evidence: RFP Sections 2.1, 2.2.6, 2.2.8 and 3.4.5  |  Appendix 1: system of record and mainframe integration  |  Appendix 3: language, profile and comments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4 of 9: Simplification and Platform Consolidation. Data points, observations and objectives are drawn from the RFP main document and Appendices 1 to 5. Improvement themes and opportunity areas are Capgemini's proposed position for the solution team to validate. Evidence: RFP Sections 2.2.9, 4.8 and 4.11  |  Appendix 1: building-block inventory  |  Appendix 3: effort and code ownership  |  Appendix 5: levers and cost roll-up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5 of 9: Transition and Knowledge Transfer. Data points, observations and objectives are drawn from the RFP main document and Appendices 1 to 5. Improvement themes and opportunity areas are Capgemini's proposed position for the solution team to validate. Evidence: RFP Sections 3.4.1 to 3.4.8, 4.7 and 5.2  |  Appendix 3: priority transfer targets and host support structure  |  Appendix 5: transition priority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6 of 9: ADM Operating Model and Global Delivery. Data points, observations and objectives are drawn from the RFP main document and Appendices 1 to 5. Improvement themes and opportunity areas are Capgemini's proposed position for the solution team to validate. Evidence: RFP Sections 2.2.1, 2.2.2, 2.2.5, 2.2.8, 4.2, 4.3, 4.6 and 4.11  |  Appendix 2: roles, phases and retained rights  |  Appendix 5: resource grid and cost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7 of 9: Quality Engineering and Test Automation. Data points, observations and objectives are drawn from the RFP main document and Appendices 1 to 5. Improvement themes and opportunity areas are Capgemini's proposed position for the solution team to validate. Evidence: RFP Sections 2.2.4, 4.4 and 4.10  |  Appendix 2: QA and Tester roles, Phase 4 and 5 activities, service level objectives  |  Appendix 3: language and criticality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8 of 9: SRE, Production Support and Reliability. Data points, observations and objectives are drawn from the RFP main document and Appendices 1 to 5. Improvement themes and opportunity areas are Capgemini's proposed position for the solution team to validate. Evidence: RFP Sections 2.2.4, 2.2.7, 3.1.2, 3.3.2 and 4.5  |  Appendix 1: monitoring and shared services  |  Appendix 2: Production SRE role, Phases 7 and 8, service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9 of 9: Governance and Commercial Framework. Data points, observations and objectives are drawn from the RFP main document and Appendices 1 to 5. Improvement themes and opportunity areas are Capgemini's proposed position for the solution team to validate. Evidence: RFP Sections 4.5, 4.10, 4.11, 6.3, 6.4, 6.5 and 6.7  |  Appendix 2: retained decision rights and service level objectives  |  Appendices 8 to 11: contract and security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1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SDLC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wants AI embedded in how delivery works, not a catalogue of tools. The ask is an operating model with measurable outcomes.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phases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must operate in every phase, discovery through continuous improvement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activities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activity list AI adoption has to be mapped against, per Appendix 2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areas named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code, test, monitoring, knowledge and Agentic AI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published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productivity or quality starting point for the three-year targets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platforms are in place but not embedded in delivery: Agentic AI at POC, VoiceBot and ChatBot at pilot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activities across 8 phases are performed conventionally, with no common toolchain across 12 teams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delivery methods run in parallel, so any AI approach must work in Agile, Waterfall and hybrid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test and RCA artefacts are produced in Japanese, limiting English-first AI tooling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embedded across the entire development and operations process, not used as a standalone tool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policy covering AI, automation, DevOps and SRE, applied across the full lifecycle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in productivity, quality, development speed and operational quality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stated approach to Agentic AI and to continuous automation and efficiency gains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all 45 activities as AI-assisted, AI-automated or human-only, then shape the pod to match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MetLife's own stack, Met IQ, Microsoft Foundry and Copilot, with our accelerators layered on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in the first 30 days of transition so the benefit curve is measured, not asserted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human review gates wherever MetLife holds EA and security approval authority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before committing benefits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AI by SDLC phase, not by tool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where data, code and controls are ready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2.2.3, 2.2.4, 4.4 and 4.10  |  Appendix 1: AI and build-tool landscape  |  Appendix 2: role and scope definition  |  Appendix 5: transformation levers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2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and Application Modernization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Modernization has to run inside the service, protect the critical estate, and land a roadmap within the contract term.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of 142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cloud-enabled apps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already carry 941 of the 1,504 recorded effort units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with no cloud footprint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the remaining 563 effort units across the estate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11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/ SaaS applications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remainder run on-premises or on IaaS, per Appendix 3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business-critical apps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stay stable while the estate is being modernized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estate spans on-premises, Azure, SaaS and mainframe, so modernization must coexist with legacy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platforms: IBM APIC with Azure APIM, IIB and MQ with Service Bus, three ETL stacks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WebSphere 9 remains in production and its Liberty replacement is still marked undecided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operations may be separately contracted, creating a delivery and SLA boundary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Azure adoption, API-first architecture and microservices across the portfolio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legacy renewal while maintaining stable operation of existing systems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technical debt and improve architecture as continuous activities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modernization roadmap achievable within the contract period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by effort concentration: 20 applications hold 73% of all recorded units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survivor platform for each duplicated layer, with a costed migration sequence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modernization capacity inside the pod, funded from run savings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RACI where cloud and infrastructure operations sit with another vendor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inside the run service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effort, not the app count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duplicated platforms first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2.1, 2.2.6, 3.1.2, 4.8 and 4.11  |  Appendix 1: architecture building blocks  |  Appendix 3: cloud, platform and application profile columns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3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Mainframe and Legacy Modernization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critical applications sit on the scarcest skills. Reliability has to be established before renewal is proposed.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of 35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apps are legacy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Mainframe or AS400 carries 60% of the critical estate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units in legacy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of the 1,504 total, concentrated in policy administration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LifeComm subsystems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policy admin, billing, collections and valuation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1 resolution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at 98% attainment on these platforms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of the 35 business-critical applications run on mainframe or AS400 platforms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COBOL, Assembler, JCL and EASYPLUS combined with Japanese is a narrow talent pool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3 consolidates some LifeComm effort into other rows, hiding true subsystem size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MIPS, batch window or data volumes given, and document quality is flagged as a risk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stable operation of legacy and mainframe systems alongside modernization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legacy system renewal as part of the modernization agenda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secure specialist talent, including mainframe engineers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dependency on specific individuals through successor development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Two-deep bilingual cover on every LifeComm subsystem, with a training pipeline behind it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code analysis as the primary discovery route where documentation is thin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regression automation and CI/CD to z/OS to protect the critical estate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rehost, refactor or retain recommendation per subsystem, tabled after steady state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before renewal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from code, not documents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key-person risk by design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2.1, 2.2.6, 2.2.8 and 3.4.5  |  Appendix 1: system of record and mainframe integration  |  Appendix 3: language, profile and comments columns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4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and Platform Consolidation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is asking for continuous cost and complexity reduction as a standing obligation, proposed by the partner.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apps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73% of effort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1,094 of 1,504 units sit in just 20 applications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apps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7% of effort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5 units each: the rationalisation candidates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platform layers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ESB, queue, ETL, workflow, rules and forms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carrying cost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must map to the Appendix 5 domain cost lines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is highly concentrated: median per app is 2.4 units against a mean of 11.4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is duplicated at 7 layers, plus 4 identity providers and 6 monitoring tools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Related holds 32 applications but accounts for only 50 effort units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applications run COTS code MetLife does not own, limiting unilateral consolidation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technical debt and propose architecture improvement continuously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cost optimisation measures throughout the contract term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as a driver of improvement and innovation, not only a performer of tasks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cost drivers and the optimisation measures assumed in the price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plays: retire the 81-app long tail, and automate the 20 apps holding 73% of effort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survivor platform per duplicated layer, sequenced and costed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standing improvement backlog reviewed with MetLife each quarter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unit cost curve tied to application and platform count reduction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the tail, automate the core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per capability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as a standing service duty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2.2.9, 4.8 and 4.11  |  Appendix 1: building-block inventory  |  Appendix 3: effort and code ownership  |  Appendix 5: levers and cost roll-up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5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and Knowledge Transfer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handover from multiple incumbents to genuine independence, delivered at no cost to MetLife.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apps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priority wave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by MetLife as priority transfer targets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units in wave one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of the estate; JP-GSSP alone accounts for 230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with incumbent ties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hosting or support recorded in Appendix 3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recoverable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KT, shadowing and reporting are not chargeable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priority applications hold 570 of 1,504 effort units, 38% of the estate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JP-GSSP, AppsPortal and JP-BANCA alone account for 462 of those units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pre-declared 4 risks: incumbent availability, documents, window and staffing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is 15 December 2026, with transition starting the following month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transition from multiple incumbents that maintains existing service quality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transition and knowledge transfer with risk mitigation and stabilisation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for cases where incumbent knowledge transfer proves insufficient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service delivery as the completion test, approved by MetLife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code, configuration and data-flow discovery as the primary KT route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Shadowing used to validate findings rather than to acquire them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one designed around the 10 flagged apps and their two owning teams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reverse-shadow evidence pack per application to trigger acceptance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that does not depend on incumbents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is the exit gate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transition openly and carry it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3.4.1 to 3.4.8, 4.7 and 5.2  |  Appendix 3: priority transfer targets and host support structure  |  Appendix 5: transition priority column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6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 Operating Model and Global Delivery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wants a partner accountable end to end, built on persistent teams and priced as a service rather than by role.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8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/ phases to own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scope a pod must cover, per Appendix 2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delivery teams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Spanning 11 business domains and 142 applications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 retained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EA, security, risk and change approval stay with MetLife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work locations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Tokyo, Kobe and Nagasaki may require onsite presence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in-scope activities across 8 phases must be owned end to end, not staffed by role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delivery teams span 11 domains and 142 applications with mixed delivery methods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Appendix 3 effort unit and the service delivery unit are both undefined in the RFP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incident, service request or release volumes are provided for any domain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partnership rather than a resource-provision arrangement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delivery capability through cross-functional teams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onshore and offshore model with bilingual Japanese and English capability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teams with documented knowledge and no key-person dependency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pods aligned to the 11 domains, each owning all 45 activities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service owner per domain, accountable for outcome rather than effort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BA and BSA capacity treated as the real onshore throughput constraint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delivery unit defined by us and mapped to the 11 domain cost lines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outcomes by domain, not roles by app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capacity sets the pyramid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service unit before pricing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2.2.1, 2.2.2, 2.2.5, 2.2.8, 4.2, 4.3, 4.6 and 4.11  |  Appendix 2: roles, phases and retained rights  |  Appendix 5: resource grid and cost lines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7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Engineering and Test Automation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release targets are already fixed at 95 to 100 percent, with no published baseline to improve from.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 fewer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P1/P2 issues allowed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30 days after each go-live, at 95% compliance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date adherence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emergency backouts held under 1%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apps to protect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10 internet-facing apps in the regression scope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recorded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breadth of the regression surface across 142 apps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 coverage, defect leakage or release volume baseline is published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Post-release quality is capped at 4 reportable P1 or P2 issues per 30 days, at 95%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adherence is 100% with backouts under 1%; estimation accuracy is plus or minus 10%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regression surface spans 47 recorded languages, from z/OS COBOL to React and APEX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test automation rate and increase release speed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incident numbers and mean time to recovery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to test design and to test automation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DevSecOps with automated pipelines, static analysis and security scanning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automation: the 35 critical apps first, then the 20 highest-effort apps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framework across web, API, packaged applications and z/OS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test cases and self-healing scripts to cut maintenance effort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Year 1 regression pack is built by us, not inherited from incumbents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by risk, not by app order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pack, do not assume inheritance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quality in, do not inspect it in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2.2.4, 4.4 and 4.10  |  Appendix 2: QA and Tester roles, Phase 4 and 5 activities, service level objectives  |  Appendix 3: language and criticality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8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SRE, Production Support and Reliability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has to be engineered rather than incidents processed, against 98 percent attainment with no volumes disclosed.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 required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notification, three resolution tiers and RCA reporting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1 resolution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2 within 4 hours and Severity 3 within 8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for RCA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business days to report root cause analysis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applications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stabilised while transition is still running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attainment is required on notification, resolution and RCA with no volumes disclosed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 applications are in production and must stabilise during the transition period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spans six tools plus a pilot, with JP1 scheduling the batch estate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window, L1 desk scope and the ticketing tool of record are not specified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prevention, problem management and root cause analysis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engineering, improved observability and continuous stability improvement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incident numbers and mean time to recovery as measured outcomes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escalation, KPI and SLA management with a defined review cadence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management targeted at recurring incidents, with elimination tracked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telemetry from six tools into a single operational view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detection, triage and runbook execution for known failure modes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reliability backlog funded by automating repetitive operational toil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Prevent, do not just resolve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operational view across six tools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reliability from removed toil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2.2.4, 2.2.7, 3.1.2, 3.3.2 and 4.5  |  Appendix 1: monitoring and shared services  |  Appendix 2: Production SRE role, Phases 7 and 8, service levels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STREAM 9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493776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Commercial Framework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969264"/>
            <a:ext cx="11320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framework and the decision rights are fixed. The governance design is the part MetLife has left to us.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 retained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B9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EA, security, risk and change approval stay with MetLife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305556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6996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96996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templates fixed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415284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MSA, two individual contracts and subcontracting memoranda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72200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hold after selection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281928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FX repricing only on movement of 5% or more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038844" y="1316736"/>
            <a:ext cx="2720340" cy="822960"/>
          </a:xfrm>
          <a:prstGeom prst="roundRect">
            <a:avLst>
              <a:gd name="adj" fmla="val 4444"/>
            </a:avLst>
          </a:prstGeom>
          <a:solidFill>
            <a:srgbClr val="E9F5FB"/>
          </a:solidFill>
          <a:ln w="12700">
            <a:solidFill>
              <a:srgbClr val="B9D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362456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 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30284" y="1627632"/>
            <a:ext cx="2537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term to price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48572" y="1810512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contract with a five-year extension view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8912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2286000"/>
            <a:ext cx="3678906" cy="329184"/>
          </a:xfrm>
          <a:prstGeom prst="rect">
            <a:avLst/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 AND CHALLENGES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retains 12 decision rights, so governance can recommend but not decide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of five MetLife contract templates is a precondition to proposal review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credit mechanism and the fee at risk are not specified in the RFP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forums, cadence and the reporting pack are left for bidders to propose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59550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59550" y="2286000"/>
            <a:ext cx="3678906" cy="32918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96710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 AND TARGET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14998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 structure with escalation, KPI and SLA management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reporting and review structure with risk and issue management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and three-year commitments with stated target values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by service delivery unit across a three and five year view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0187" y="2286000"/>
            <a:ext cx="367890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80187" y="2286000"/>
            <a:ext cx="3678906" cy="329184"/>
          </a:xfrm>
          <a:prstGeom prst="rect">
            <a:avLst/>
          </a:prstGeom>
          <a:solidFill>
            <a:srgbClr val="12ABDB"/>
          </a:solidFill>
          <a:ln w="12700">
            <a:solidFill>
              <a:srgbClr val="12A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7347" y="2286000"/>
            <a:ext cx="3404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THEMES AND OPPORTUNITY AREAS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35635" y="2706624"/>
            <a:ext cx="336801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governance: partnership board, service review and operational forums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SLA plan mapped line by line to the Appendix 2 reference values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tracking against the Section 4.10 metrics, published monthly</a:t>
            </a:r>
            <a:endParaRPr lang="en-US" sz="920" dirty="0"/>
          </a:p>
          <a:p>
            <a:pPr marL="342900" indent="-342900">
              <a:lnSpc>
                <a:spcPct val="96000"/>
              </a:lnSpc>
              <a:spcAft>
                <a:spcPts val="900"/>
              </a:spcAft>
              <a:buSzPct val="100000"/>
              <a:buChar char="●"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type, subcontracting and FX terms routed to Legal and Finance early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8912" y="5029200"/>
            <a:ext cx="11320272" cy="749808"/>
          </a:xfrm>
          <a:prstGeom prst="roundRect">
            <a:avLst>
              <a:gd name="adj" fmla="val 4878"/>
            </a:avLst>
          </a:prstGeom>
          <a:solidFill>
            <a:srgbClr val="082B49"/>
          </a:solidFill>
          <a:ln w="12700">
            <a:solidFill>
              <a:srgbClr val="082B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102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CAPGEMINI</a:t>
            </a:r>
            <a:endParaRPr lang="en-US" sz="86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VALUE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487168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forums that inform, not decide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605272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34456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SLAs to the published reference values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723376" y="510235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52560" y="510235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contract terms before pricing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75488" y="587044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RFP Sections 4.5, 4.10, 4.11, 6.3, 6.4, 6.5 and 6.7  |  Appendix 2: retained decision rights and service level objectives  |  Appendices 8 to 11: contract and security terms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8912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 | MetLife Japan – Application Development Services RFP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66560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bid team working document  |  Company confidential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1430000" y="64190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8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6F9B9AA9FDD341B4BEBD17B645EC21" ma:contentTypeVersion="8" ma:contentTypeDescription="Create a new document." ma:contentTypeScope="" ma:versionID="5745af9a74d46f102bb11af60999e8af">
  <xsd:schema xmlns:xsd="http://www.w3.org/2001/XMLSchema" xmlns:xs="http://www.w3.org/2001/XMLSchema" xmlns:p="http://schemas.microsoft.com/office/2006/metadata/properties" xmlns:ns2="a84add37-9773-464e-afdf-4ed72a97b2aa" targetNamespace="http://schemas.microsoft.com/office/2006/metadata/properties" ma:root="true" ma:fieldsID="849244e1f35761c386d289d5fd495158" ns2:_="">
    <xsd:import namespace="a84add37-9773-464e-afdf-4ed72a97b2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add37-9773-464e-afdf-4ed72a97b2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3A6258-11DA-42B8-A3EE-5B409DD06628}"/>
</file>

<file path=customXml/itemProps2.xml><?xml version="1.0" encoding="utf-8"?>
<ds:datastoreItem xmlns:ds="http://schemas.openxmlformats.org/officeDocument/2006/customXml" ds:itemID="{D00C79B3-E74B-49F8-ACCD-674EE62F6FE9}"/>
</file>

<file path=customXml/itemProps3.xml><?xml version="1.0" encoding="utf-8"?>
<ds:datastoreItem xmlns:ds="http://schemas.openxmlformats.org/officeDocument/2006/customXml" ds:itemID="{E2C7A6C4-2620-497E-B567-2FB1B8AC4BCC}"/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3693</Words>
  <Application>Microsoft Office PowerPoint</Application>
  <PresentationFormat>Widescreen</PresentationFormat>
  <Paragraphs>396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MetLife Japan ADS RFP - Solution Streams</dc:title>
  <dc:subject>PptxGenJS Presentation</dc:subject>
  <dc:creator>Capgemini</dc:creator>
  <cp:lastModifiedBy>Chandran, Bharath</cp:lastModifiedBy>
  <cp:revision>1</cp:revision>
  <dcterms:created xsi:type="dcterms:W3CDTF">2026-08-20T07:25:35Z</dcterms:created>
  <dcterms:modified xsi:type="dcterms:W3CDTF">2026-08-20T07:31:51Z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0x010100E76F9B9AA9FDD341B4BEBD17B645EC21</vt:lpwstr>
  </property>
</Properties>
</file>