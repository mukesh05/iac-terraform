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Sales / Insurance Recruitment: current workforce actuals and target</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Workbook actuals reconcile to the 438.71 baseline; FTE and MGCC are combined both currently and at target.</a:t>
            </a:r>
            <a:endParaRPr lang="en-US" sz="1100" dirty="0"/>
          </a:p>
        </p:txBody>
      </p:sp>
      <p:sp>
        <p:nvSpPr>
          <p:cNvPr id="5" name="Shape 3"/>
          <p:cNvSpPr/>
          <p:nvPr/>
        </p:nvSpPr>
        <p:spPr>
          <a:xfrm>
            <a:off x="457200" y="1170432"/>
            <a:ext cx="1755648" cy="1051560"/>
          </a:xfrm>
          <a:prstGeom prst="roundRect">
            <a:avLst>
              <a:gd name="adj" fmla="val 6957"/>
            </a:avLst>
          </a:prstGeom>
          <a:solidFill>
            <a:srgbClr val="F5F6F8"/>
          </a:solidFill>
          <a:ln w="12700">
            <a:solidFill>
              <a:srgbClr val="E1E6ED"/>
            </a:solidFill>
            <a:prstDash val="solid"/>
          </a:ln>
        </p:spPr>
      </p:sp>
      <p:sp>
        <p:nvSpPr>
          <p:cNvPr id="6" name="Text 4"/>
          <p:cNvSpPr txBox="1"/>
          <p:nvPr/>
        </p:nvSpPr>
        <p:spPr>
          <a:xfrm>
            <a:off x="502920" y="1335024"/>
            <a:ext cx="1664208" cy="457200"/>
          </a:xfrm>
          <a:prstGeom prst="rect">
            <a:avLst/>
          </a:prstGeom>
          <a:noFill/>
          <a:ln/>
        </p:spPr>
        <p:txBody>
          <a:bodyPr wrap="square" rtlCol="0" anchor="b"/>
          <a:lstStyle/>
          <a:p>
            <a:pPr algn="ctr" indent="0" marL="0">
              <a:buNone/>
            </a:pPr>
            <a:r>
              <a:rPr lang="en-US" sz="2000" b="1" dirty="0">
                <a:solidFill>
                  <a:srgbClr val="173A5E"/>
                </a:solidFill>
                <a:latin typeface="Calibri" pitchFamily="34" charset="0"/>
                <a:ea typeface="Calibri" pitchFamily="34" charset="-122"/>
                <a:cs typeface="Calibri" pitchFamily="34" charset="-120"/>
              </a:rPr>
              <a:t>267.931</a:t>
            </a:r>
            <a:endParaRPr lang="en-US" sz="2000" dirty="0"/>
          </a:p>
        </p:txBody>
      </p:sp>
      <p:sp>
        <p:nvSpPr>
          <p:cNvPr id="7" name="Text 5"/>
          <p:cNvSpPr txBox="1"/>
          <p:nvPr/>
        </p:nvSpPr>
        <p:spPr>
          <a:xfrm>
            <a:off x="530352"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Current FTC</a:t>
            </a:r>
            <a:endParaRPr lang="en-US" sz="950" dirty="0"/>
          </a:p>
        </p:txBody>
      </p:sp>
      <p:sp>
        <p:nvSpPr>
          <p:cNvPr id="8" name="Shape 6"/>
          <p:cNvSpPr/>
          <p:nvPr/>
        </p:nvSpPr>
        <p:spPr>
          <a:xfrm>
            <a:off x="2345436" y="1170432"/>
            <a:ext cx="1755648" cy="1051560"/>
          </a:xfrm>
          <a:prstGeom prst="roundRect">
            <a:avLst>
              <a:gd name="adj" fmla="val 6957"/>
            </a:avLst>
          </a:prstGeom>
          <a:solidFill>
            <a:srgbClr val="F5F6F8"/>
          </a:solidFill>
          <a:ln w="12700">
            <a:solidFill>
              <a:srgbClr val="E1E6ED"/>
            </a:solidFill>
            <a:prstDash val="solid"/>
          </a:ln>
        </p:spPr>
      </p:sp>
      <p:sp>
        <p:nvSpPr>
          <p:cNvPr id="9" name="Text 7"/>
          <p:cNvSpPr txBox="1"/>
          <p:nvPr/>
        </p:nvSpPr>
        <p:spPr>
          <a:xfrm>
            <a:off x="2391156" y="1335024"/>
            <a:ext cx="1664208" cy="457200"/>
          </a:xfrm>
          <a:prstGeom prst="rect">
            <a:avLst/>
          </a:prstGeom>
          <a:noFill/>
          <a:ln/>
        </p:spPr>
        <p:txBody>
          <a:bodyPr wrap="square" rtlCol="0" anchor="b"/>
          <a:lstStyle/>
          <a:p>
            <a:pPr algn="ctr" indent="0" marL="0">
              <a:buNone/>
            </a:pPr>
            <a:r>
              <a:rPr lang="en-US" sz="2000" b="1" dirty="0">
                <a:solidFill>
                  <a:srgbClr val="173A5E"/>
                </a:solidFill>
                <a:latin typeface="Calibri" pitchFamily="34" charset="0"/>
                <a:ea typeface="Calibri" pitchFamily="34" charset="-122"/>
                <a:cs typeface="Calibri" pitchFamily="34" charset="-120"/>
              </a:rPr>
              <a:t>172.325</a:t>
            </a:r>
            <a:endParaRPr lang="en-US" sz="2000" dirty="0"/>
          </a:p>
        </p:txBody>
      </p:sp>
      <p:sp>
        <p:nvSpPr>
          <p:cNvPr id="10" name="Text 8"/>
          <p:cNvSpPr txBox="1"/>
          <p:nvPr/>
        </p:nvSpPr>
        <p:spPr>
          <a:xfrm>
            <a:off x="2418588"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Current FTE/MGCC</a:t>
            </a:r>
            <a:endParaRPr lang="en-US" sz="950" dirty="0"/>
          </a:p>
        </p:txBody>
      </p:sp>
      <p:sp>
        <p:nvSpPr>
          <p:cNvPr id="11" name="Shape 9"/>
          <p:cNvSpPr/>
          <p:nvPr/>
        </p:nvSpPr>
        <p:spPr>
          <a:xfrm>
            <a:off x="4233672" y="1170432"/>
            <a:ext cx="1755648" cy="1051560"/>
          </a:xfrm>
          <a:prstGeom prst="roundRect">
            <a:avLst>
              <a:gd name="adj" fmla="val 6957"/>
            </a:avLst>
          </a:prstGeom>
          <a:solidFill>
            <a:srgbClr val="F5F6F8"/>
          </a:solidFill>
          <a:ln w="12700">
            <a:solidFill>
              <a:srgbClr val="E1E6ED"/>
            </a:solidFill>
            <a:prstDash val="solid"/>
          </a:ln>
        </p:spPr>
      </p:sp>
      <p:sp>
        <p:nvSpPr>
          <p:cNvPr id="12" name="Text 10"/>
          <p:cNvSpPr txBox="1"/>
          <p:nvPr/>
        </p:nvSpPr>
        <p:spPr>
          <a:xfrm>
            <a:off x="4279392" y="1335024"/>
            <a:ext cx="1664208" cy="457200"/>
          </a:xfrm>
          <a:prstGeom prst="rect">
            <a:avLst/>
          </a:prstGeom>
          <a:noFill/>
          <a:ln/>
        </p:spPr>
        <p:txBody>
          <a:bodyPr wrap="square" rtlCol="0" anchor="b"/>
          <a:lstStyle/>
          <a:p>
            <a:pPr algn="ctr" indent="0" marL="0">
              <a:buNone/>
            </a:pPr>
            <a:r>
              <a:rPr lang="en-US" sz="2000" b="1" dirty="0">
                <a:solidFill>
                  <a:srgbClr val="0E7C7B"/>
                </a:solidFill>
                <a:latin typeface="Calibri" pitchFamily="34" charset="0"/>
                <a:ea typeface="Calibri" pitchFamily="34" charset="-122"/>
                <a:cs typeface="Calibri" pitchFamily="34" charset="-120"/>
              </a:rPr>
              <a:t>438.714</a:t>
            </a:r>
            <a:endParaRPr lang="en-US" sz="2000" dirty="0"/>
          </a:p>
        </p:txBody>
      </p:sp>
      <p:sp>
        <p:nvSpPr>
          <p:cNvPr id="13" name="Text 11"/>
          <p:cNvSpPr txBox="1"/>
          <p:nvPr/>
        </p:nvSpPr>
        <p:spPr>
          <a:xfrm>
            <a:off x="4306824"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Total</a:t>
            </a:r>
            <a:endParaRPr lang="en-US" sz="950" dirty="0"/>
          </a:p>
        </p:txBody>
      </p:sp>
      <p:sp>
        <p:nvSpPr>
          <p:cNvPr id="14" name="Shape 12"/>
          <p:cNvSpPr/>
          <p:nvPr/>
        </p:nvSpPr>
        <p:spPr>
          <a:xfrm>
            <a:off x="6121908" y="1170432"/>
            <a:ext cx="1755648" cy="1051560"/>
          </a:xfrm>
          <a:prstGeom prst="roundRect">
            <a:avLst>
              <a:gd name="adj" fmla="val 6957"/>
            </a:avLst>
          </a:prstGeom>
          <a:solidFill>
            <a:srgbClr val="F5F6F8"/>
          </a:solidFill>
          <a:ln w="12700">
            <a:solidFill>
              <a:srgbClr val="E1E6ED"/>
            </a:solidFill>
            <a:prstDash val="solid"/>
          </a:ln>
        </p:spPr>
      </p:sp>
      <p:sp>
        <p:nvSpPr>
          <p:cNvPr id="15" name="Text 13"/>
          <p:cNvSpPr txBox="1"/>
          <p:nvPr/>
        </p:nvSpPr>
        <p:spPr>
          <a:xfrm>
            <a:off x="6167628" y="1335024"/>
            <a:ext cx="1664208" cy="457200"/>
          </a:xfrm>
          <a:prstGeom prst="rect">
            <a:avLst/>
          </a:prstGeom>
          <a:noFill/>
          <a:ln/>
        </p:spPr>
        <p:txBody>
          <a:bodyPr wrap="square" rtlCol="0" anchor="b"/>
          <a:lstStyle/>
          <a:p>
            <a:pPr algn="ctr" indent="0" marL="0">
              <a:buNone/>
            </a:pPr>
            <a:r>
              <a:rPr lang="en-US" sz="2000" b="1" dirty="0">
                <a:solidFill>
                  <a:srgbClr val="0E7C7B"/>
                </a:solidFill>
                <a:latin typeface="Calibri" pitchFamily="34" charset="0"/>
                <a:ea typeface="Calibri" pitchFamily="34" charset="-122"/>
                <a:cs typeface="Calibri" pitchFamily="34" charset="-120"/>
              </a:rPr>
              <a:t>95.0%</a:t>
            </a:r>
            <a:endParaRPr lang="en-US" sz="2000" dirty="0"/>
          </a:p>
        </p:txBody>
      </p:sp>
      <p:sp>
        <p:nvSpPr>
          <p:cNvPr id="16" name="Text 14"/>
          <p:cNvSpPr txBox="1"/>
          <p:nvPr/>
        </p:nvSpPr>
        <p:spPr>
          <a:xfrm>
            <a:off x="6195060"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 of PRJ</a:t>
            </a:r>
            <a:endParaRPr lang="en-US" sz="950" dirty="0"/>
          </a:p>
        </p:txBody>
      </p:sp>
      <p:sp>
        <p:nvSpPr>
          <p:cNvPr id="17" name="Shape 15"/>
          <p:cNvSpPr/>
          <p:nvPr/>
        </p:nvSpPr>
        <p:spPr>
          <a:xfrm>
            <a:off x="8010144" y="1170432"/>
            <a:ext cx="1755648" cy="1051560"/>
          </a:xfrm>
          <a:prstGeom prst="roundRect">
            <a:avLst>
              <a:gd name="adj" fmla="val 6957"/>
            </a:avLst>
          </a:prstGeom>
          <a:solidFill>
            <a:srgbClr val="F5F6F8"/>
          </a:solidFill>
          <a:ln w="12700">
            <a:solidFill>
              <a:srgbClr val="E1E6ED"/>
            </a:solidFill>
            <a:prstDash val="solid"/>
          </a:ln>
        </p:spPr>
      </p:sp>
      <p:sp>
        <p:nvSpPr>
          <p:cNvPr id="18" name="Text 16"/>
          <p:cNvSpPr txBox="1"/>
          <p:nvPr/>
        </p:nvSpPr>
        <p:spPr>
          <a:xfrm>
            <a:off x="8055864" y="1335024"/>
            <a:ext cx="1664208" cy="457200"/>
          </a:xfrm>
          <a:prstGeom prst="rect">
            <a:avLst/>
          </a:prstGeom>
          <a:noFill/>
          <a:ln/>
        </p:spPr>
        <p:txBody>
          <a:bodyPr wrap="square" rtlCol="0" anchor="b"/>
          <a:lstStyle/>
          <a:p>
            <a:pPr algn="ctr" indent="0" marL="0">
              <a:buNone/>
            </a:pPr>
            <a:r>
              <a:rPr lang="en-US" sz="2000" b="1" dirty="0">
                <a:solidFill>
                  <a:srgbClr val="173A5E"/>
                </a:solidFill>
                <a:latin typeface="Calibri" pitchFamily="34" charset="0"/>
                <a:ea typeface="Calibri" pitchFamily="34" charset="-122"/>
                <a:cs typeface="Calibri" pitchFamily="34" charset="-120"/>
              </a:rPr>
              <a:t>219.357</a:t>
            </a:r>
            <a:endParaRPr lang="en-US" sz="2000" dirty="0"/>
          </a:p>
        </p:txBody>
      </p:sp>
      <p:sp>
        <p:nvSpPr>
          <p:cNvPr id="19" name="Text 17"/>
          <p:cNvSpPr txBox="1"/>
          <p:nvPr/>
        </p:nvSpPr>
        <p:spPr>
          <a:xfrm>
            <a:off x="8083296"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Target # of FTC</a:t>
            </a:r>
            <a:endParaRPr lang="en-US" sz="950" dirty="0"/>
          </a:p>
        </p:txBody>
      </p:sp>
      <p:sp>
        <p:nvSpPr>
          <p:cNvPr id="20" name="Shape 18"/>
          <p:cNvSpPr/>
          <p:nvPr/>
        </p:nvSpPr>
        <p:spPr>
          <a:xfrm>
            <a:off x="9898380" y="1170432"/>
            <a:ext cx="1755648" cy="1051560"/>
          </a:xfrm>
          <a:prstGeom prst="roundRect">
            <a:avLst>
              <a:gd name="adj" fmla="val 6957"/>
            </a:avLst>
          </a:prstGeom>
          <a:solidFill>
            <a:srgbClr val="F5F6F8"/>
          </a:solidFill>
          <a:ln w="12700">
            <a:solidFill>
              <a:srgbClr val="E1E6ED"/>
            </a:solidFill>
            <a:prstDash val="solid"/>
          </a:ln>
        </p:spPr>
      </p:sp>
      <p:sp>
        <p:nvSpPr>
          <p:cNvPr id="21" name="Text 19"/>
          <p:cNvSpPr txBox="1"/>
          <p:nvPr/>
        </p:nvSpPr>
        <p:spPr>
          <a:xfrm>
            <a:off x="9944100" y="1335024"/>
            <a:ext cx="1664208" cy="457200"/>
          </a:xfrm>
          <a:prstGeom prst="rect">
            <a:avLst/>
          </a:prstGeom>
          <a:noFill/>
          <a:ln/>
        </p:spPr>
        <p:txBody>
          <a:bodyPr wrap="square" rtlCol="0" anchor="b"/>
          <a:lstStyle/>
          <a:p>
            <a:pPr algn="ctr" indent="0" marL="0">
              <a:buNone/>
            </a:pPr>
            <a:r>
              <a:rPr lang="en-US" sz="2000" b="1" dirty="0">
                <a:solidFill>
                  <a:srgbClr val="173A5E"/>
                </a:solidFill>
                <a:latin typeface="Calibri" pitchFamily="34" charset="0"/>
                <a:ea typeface="Calibri" pitchFamily="34" charset="-122"/>
                <a:cs typeface="Calibri" pitchFamily="34" charset="-120"/>
              </a:rPr>
              <a:t>219.357</a:t>
            </a:r>
            <a:endParaRPr lang="en-US" sz="2000" dirty="0"/>
          </a:p>
        </p:txBody>
      </p:sp>
      <p:sp>
        <p:nvSpPr>
          <p:cNvPr id="22" name="Text 20"/>
          <p:cNvSpPr txBox="1"/>
          <p:nvPr/>
        </p:nvSpPr>
        <p:spPr>
          <a:xfrm>
            <a:off x="9971532" y="1828800"/>
            <a:ext cx="1609344" cy="347472"/>
          </a:xfrm>
          <a:prstGeom prst="rect">
            <a:avLst/>
          </a:prstGeom>
          <a:noFill/>
          <a:ln/>
        </p:spPr>
        <p:txBody>
          <a:bodyPr wrap="square" rtlCol="0" anchor="t"/>
          <a:lstStyle/>
          <a:p>
            <a:pPr algn="ctr" indent="0" marL="0">
              <a:buNone/>
            </a:pPr>
            <a:r>
              <a:rPr lang="en-US" sz="950" dirty="0">
                <a:solidFill>
                  <a:srgbClr val="394150"/>
                </a:solidFill>
                <a:latin typeface="Calibri" pitchFamily="34" charset="0"/>
                <a:ea typeface="Calibri" pitchFamily="34" charset="-122"/>
                <a:cs typeface="Calibri" pitchFamily="34" charset="-120"/>
              </a:rPr>
              <a:t>Target # of FTE/MGCC</a:t>
            </a:r>
            <a:endParaRPr lang="en-US" sz="950" dirty="0"/>
          </a:p>
        </p:txBody>
      </p:sp>
      <p:sp>
        <p:nvSpPr>
          <p:cNvPr id="23" name="Shape 21"/>
          <p:cNvSpPr/>
          <p:nvPr/>
        </p:nvSpPr>
        <p:spPr>
          <a:xfrm>
            <a:off x="457200" y="2514600"/>
            <a:ext cx="11274552" cy="3566160"/>
          </a:xfrm>
          <a:prstGeom prst="roundRect">
            <a:avLst>
              <a:gd name="adj" fmla="val 2564"/>
            </a:avLst>
          </a:prstGeom>
          <a:solidFill>
            <a:srgbClr val="F6F7F9"/>
          </a:solidFill>
          <a:ln/>
        </p:spPr>
      </p:sp>
      <p:sp>
        <p:nvSpPr>
          <p:cNvPr id="24" name="Text 22"/>
          <p:cNvSpPr txBox="1"/>
          <p:nvPr/>
        </p:nvSpPr>
        <p:spPr>
          <a:xfrm>
            <a:off x="685800" y="2715768"/>
            <a:ext cx="7315200" cy="365760"/>
          </a:xfrm>
          <a:prstGeom prst="rect">
            <a:avLst/>
          </a:prstGeom>
          <a:noFill/>
          <a:ln/>
        </p:spPr>
        <p:txBody>
          <a:bodyPr wrap="square" rtlCol="0" anchor="ctr"/>
          <a:lstStyle/>
          <a:p>
            <a:pPr indent="0" marL="0">
              <a:buNone/>
            </a:pPr>
            <a:r>
              <a:rPr lang="en-US" sz="1600" b="1" dirty="0">
                <a:solidFill>
                  <a:srgbClr val="1E2530"/>
                </a:solidFill>
                <a:latin typeface="Calibri" pitchFamily="34" charset="0"/>
                <a:ea typeface="Calibri" pitchFamily="34" charset="-122"/>
                <a:cs typeface="Calibri" pitchFamily="34" charset="-120"/>
              </a:rPr>
              <a:t>Actual-to-target workforce bridge</a:t>
            </a:r>
            <a:endParaRPr lang="en-US" sz="1600" dirty="0"/>
          </a:p>
        </p:txBody>
      </p:sp>
      <p:sp>
        <p:nvSpPr>
          <p:cNvPr id="25" name="Text 23"/>
          <p:cNvSpPr txBox="1"/>
          <p:nvPr/>
        </p:nvSpPr>
        <p:spPr>
          <a:xfrm>
            <a:off x="685800" y="3136392"/>
            <a:ext cx="5486400" cy="274320"/>
          </a:xfrm>
          <a:prstGeom prst="rect">
            <a:avLst/>
          </a:prstGeom>
          <a:noFill/>
          <a:ln/>
        </p:spPr>
        <p:txBody>
          <a:bodyPr wrap="square" rtlCol="0" anchor="ctr"/>
          <a:lstStyle/>
          <a:p>
            <a:pPr indent="0" marL="0">
              <a:buNone/>
            </a:pPr>
            <a:r>
              <a:rPr lang="en-US" sz="1150" b="1" dirty="0">
                <a:solidFill>
                  <a:srgbClr val="394150"/>
                </a:solidFill>
                <a:latin typeface="Calibri" pitchFamily="34" charset="0"/>
                <a:ea typeface="Calibri" pitchFamily="34" charset="-122"/>
                <a:cs typeface="Calibri" pitchFamily="34" charset="-120"/>
              </a:rPr>
              <a:t>Workforce composition</a:t>
            </a:r>
            <a:endParaRPr lang="en-US" sz="1150" dirty="0"/>
          </a:p>
        </p:txBody>
      </p:sp>
      <p:sp>
        <p:nvSpPr>
          <p:cNvPr id="26" name="Text 24"/>
          <p:cNvSpPr txBox="1"/>
          <p:nvPr/>
        </p:nvSpPr>
        <p:spPr>
          <a:xfrm>
            <a:off x="457200" y="3680460"/>
            <a:ext cx="822960" cy="274320"/>
          </a:xfrm>
          <a:prstGeom prst="rect">
            <a:avLst/>
          </a:prstGeom>
          <a:noFill/>
          <a:ln/>
        </p:spPr>
        <p:txBody>
          <a:bodyPr wrap="square" rtlCol="0" anchor="ctr"/>
          <a:lstStyle/>
          <a:p>
            <a:pPr indent="0" marL="0">
              <a:buNone/>
            </a:pPr>
            <a:r>
              <a:rPr lang="en-US" sz="1100" b="1" dirty="0">
                <a:solidFill>
                  <a:srgbClr val="1E2530"/>
                </a:solidFill>
                <a:latin typeface="Calibri" pitchFamily="34" charset="0"/>
                <a:ea typeface="Calibri" pitchFamily="34" charset="-122"/>
                <a:cs typeface="Calibri" pitchFamily="34" charset="-120"/>
              </a:rPr>
              <a:t>Current</a:t>
            </a:r>
            <a:endParaRPr lang="en-US" sz="1100" dirty="0"/>
          </a:p>
        </p:txBody>
      </p:sp>
      <p:sp>
        <p:nvSpPr>
          <p:cNvPr id="27" name="Shape 25"/>
          <p:cNvSpPr/>
          <p:nvPr/>
        </p:nvSpPr>
        <p:spPr>
          <a:xfrm>
            <a:off x="1691640" y="3566160"/>
            <a:ext cx="3338913" cy="502920"/>
          </a:xfrm>
          <a:prstGeom prst="rect">
            <a:avLst/>
          </a:prstGeom>
          <a:solidFill>
            <a:srgbClr val="0F5C82"/>
          </a:solidFill>
          <a:ln/>
        </p:spPr>
      </p:sp>
      <p:sp>
        <p:nvSpPr>
          <p:cNvPr id="28" name="Shape 26"/>
          <p:cNvSpPr/>
          <p:nvPr/>
        </p:nvSpPr>
        <p:spPr>
          <a:xfrm>
            <a:off x="5030553" y="3566160"/>
            <a:ext cx="2147487" cy="502920"/>
          </a:xfrm>
          <a:prstGeom prst="rect">
            <a:avLst/>
          </a:prstGeom>
          <a:solidFill>
            <a:srgbClr val="4B3F9E"/>
          </a:solidFill>
          <a:ln/>
        </p:spPr>
      </p:sp>
      <p:sp>
        <p:nvSpPr>
          <p:cNvPr id="29" name="Text 27"/>
          <p:cNvSpPr txBox="1"/>
          <p:nvPr/>
        </p:nvSpPr>
        <p:spPr>
          <a:xfrm>
            <a:off x="1691640" y="3566160"/>
            <a:ext cx="3338913"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267.931</a:t>
            </a:r>
            <a:endParaRPr lang="en-US" sz="1000" dirty="0"/>
          </a:p>
        </p:txBody>
      </p:sp>
      <p:sp>
        <p:nvSpPr>
          <p:cNvPr id="30" name="Text 28"/>
          <p:cNvSpPr txBox="1"/>
          <p:nvPr/>
        </p:nvSpPr>
        <p:spPr>
          <a:xfrm>
            <a:off x="5030553" y="3566160"/>
            <a:ext cx="2147487"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172.325</a:t>
            </a:r>
            <a:endParaRPr lang="en-US" sz="1000" dirty="0"/>
          </a:p>
        </p:txBody>
      </p:sp>
      <p:sp>
        <p:nvSpPr>
          <p:cNvPr id="31" name="Text 29"/>
          <p:cNvSpPr txBox="1"/>
          <p:nvPr/>
        </p:nvSpPr>
        <p:spPr>
          <a:xfrm>
            <a:off x="457200" y="4594860"/>
            <a:ext cx="822960" cy="274320"/>
          </a:xfrm>
          <a:prstGeom prst="rect">
            <a:avLst/>
          </a:prstGeom>
          <a:noFill/>
          <a:ln/>
        </p:spPr>
        <p:txBody>
          <a:bodyPr wrap="square" rtlCol="0" anchor="ctr"/>
          <a:lstStyle/>
          <a:p>
            <a:pPr indent="0" marL="0">
              <a:buNone/>
            </a:pPr>
            <a:r>
              <a:rPr lang="en-US" sz="1100" b="1" dirty="0">
                <a:solidFill>
                  <a:srgbClr val="1E2530"/>
                </a:solidFill>
                <a:latin typeface="Calibri" pitchFamily="34" charset="0"/>
                <a:ea typeface="Calibri" pitchFamily="34" charset="-122"/>
                <a:cs typeface="Calibri" pitchFamily="34" charset="-120"/>
              </a:rPr>
              <a:t>Target</a:t>
            </a:r>
            <a:endParaRPr lang="en-US" sz="1100" dirty="0"/>
          </a:p>
        </p:txBody>
      </p:sp>
      <p:sp>
        <p:nvSpPr>
          <p:cNvPr id="32" name="Shape 30"/>
          <p:cNvSpPr/>
          <p:nvPr/>
        </p:nvSpPr>
        <p:spPr>
          <a:xfrm>
            <a:off x="1691640" y="4480560"/>
            <a:ext cx="2743200" cy="502920"/>
          </a:xfrm>
          <a:prstGeom prst="rect">
            <a:avLst/>
          </a:prstGeom>
          <a:solidFill>
            <a:srgbClr val="0F5C82"/>
          </a:solidFill>
          <a:ln/>
        </p:spPr>
      </p:sp>
      <p:sp>
        <p:nvSpPr>
          <p:cNvPr id="33" name="Shape 31"/>
          <p:cNvSpPr/>
          <p:nvPr/>
        </p:nvSpPr>
        <p:spPr>
          <a:xfrm>
            <a:off x="4434840" y="4480560"/>
            <a:ext cx="2743200" cy="502920"/>
          </a:xfrm>
          <a:prstGeom prst="rect">
            <a:avLst/>
          </a:prstGeom>
          <a:solidFill>
            <a:srgbClr val="4B3F9E"/>
          </a:solidFill>
          <a:ln/>
        </p:spPr>
      </p:sp>
      <p:sp>
        <p:nvSpPr>
          <p:cNvPr id="34" name="Text 32"/>
          <p:cNvSpPr txBox="1"/>
          <p:nvPr/>
        </p:nvSpPr>
        <p:spPr>
          <a:xfrm>
            <a:off x="1691640" y="4480560"/>
            <a:ext cx="2743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219.357</a:t>
            </a:r>
            <a:endParaRPr lang="en-US" sz="1000" dirty="0"/>
          </a:p>
        </p:txBody>
      </p:sp>
      <p:sp>
        <p:nvSpPr>
          <p:cNvPr id="35" name="Text 33"/>
          <p:cNvSpPr txBox="1"/>
          <p:nvPr/>
        </p:nvSpPr>
        <p:spPr>
          <a:xfrm>
            <a:off x="4434840" y="4480560"/>
            <a:ext cx="2743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219.357</a:t>
            </a:r>
            <a:endParaRPr lang="en-US" sz="1000" dirty="0"/>
          </a:p>
        </p:txBody>
      </p:sp>
      <p:sp>
        <p:nvSpPr>
          <p:cNvPr id="36" name="Shape 34"/>
          <p:cNvSpPr/>
          <p:nvPr/>
        </p:nvSpPr>
        <p:spPr>
          <a:xfrm>
            <a:off x="685800" y="5120640"/>
            <a:ext cx="164592" cy="164592"/>
          </a:xfrm>
          <a:prstGeom prst="rect">
            <a:avLst/>
          </a:prstGeom>
          <a:solidFill>
            <a:srgbClr val="0F5C82"/>
          </a:solidFill>
          <a:ln/>
        </p:spPr>
      </p:sp>
      <p:sp>
        <p:nvSpPr>
          <p:cNvPr id="37" name="Text 35"/>
          <p:cNvSpPr txBox="1"/>
          <p:nvPr/>
        </p:nvSpPr>
        <p:spPr>
          <a:xfrm>
            <a:off x="896112" y="5074920"/>
            <a:ext cx="548640" cy="25603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FTC</a:t>
            </a:r>
            <a:endParaRPr lang="en-US" sz="1000" dirty="0"/>
          </a:p>
        </p:txBody>
      </p:sp>
      <p:sp>
        <p:nvSpPr>
          <p:cNvPr id="38" name="Shape 36"/>
          <p:cNvSpPr/>
          <p:nvPr/>
        </p:nvSpPr>
        <p:spPr>
          <a:xfrm>
            <a:off x="1463040" y="5120640"/>
            <a:ext cx="164592" cy="164592"/>
          </a:xfrm>
          <a:prstGeom prst="rect">
            <a:avLst/>
          </a:prstGeom>
          <a:solidFill>
            <a:srgbClr val="4B3F9E"/>
          </a:solidFill>
          <a:ln/>
        </p:spPr>
      </p:sp>
      <p:sp>
        <p:nvSpPr>
          <p:cNvPr id="39" name="Text 37"/>
          <p:cNvSpPr txBox="1"/>
          <p:nvPr/>
        </p:nvSpPr>
        <p:spPr>
          <a:xfrm>
            <a:off x="1673352" y="5074920"/>
            <a:ext cx="1280160" cy="25603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FTE / MGCC</a:t>
            </a:r>
            <a:endParaRPr lang="en-US" sz="1000" dirty="0"/>
          </a:p>
        </p:txBody>
      </p:sp>
      <p:sp>
        <p:nvSpPr>
          <p:cNvPr id="40" name="Text 38"/>
          <p:cNvSpPr txBox="1"/>
          <p:nvPr/>
        </p:nvSpPr>
        <p:spPr>
          <a:xfrm>
            <a:off x="3291840" y="5074920"/>
            <a:ext cx="3200400" cy="256032"/>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Total workforce: 438.714 in both scenarios</a:t>
            </a:r>
            <a:endParaRPr lang="en-US" sz="950" dirty="0"/>
          </a:p>
        </p:txBody>
      </p:sp>
      <p:sp>
        <p:nvSpPr>
          <p:cNvPr id="41" name="Text 39"/>
          <p:cNvSpPr txBox="1"/>
          <p:nvPr/>
        </p:nvSpPr>
        <p:spPr>
          <a:xfrm>
            <a:off x="6675120" y="3200400"/>
            <a:ext cx="2743200" cy="384048"/>
          </a:xfrm>
          <a:prstGeom prst="rect">
            <a:avLst/>
          </a:prstGeom>
          <a:noFill/>
          <a:ln/>
        </p:spPr>
        <p:txBody>
          <a:bodyPr wrap="square" rtlCol="0" anchor="ctr"/>
          <a:lstStyle/>
          <a:p>
            <a:pPr indent="0" marL="0">
              <a:buNone/>
            </a:pPr>
            <a:r>
              <a:rPr lang="en-US" sz="1100" b="1" dirty="0">
                <a:solidFill>
                  <a:srgbClr val="173A5E"/>
                </a:solidFill>
                <a:latin typeface="Calibri" pitchFamily="34" charset="0"/>
                <a:ea typeface="Calibri" pitchFamily="34" charset="-122"/>
                <a:cs typeface="Calibri" pitchFamily="34" charset="-120"/>
              </a:rPr>
              <a:t>•  </a:t>
            </a:r>
            <a:pPr indent="0" marL="0">
              <a:buNone/>
            </a:pPr>
            <a:r>
              <a:rPr lang="en-US" sz="1100" b="1" dirty="0">
                <a:solidFill>
                  <a:srgbClr val="1E2530"/>
                </a:solidFill>
                <a:latin typeface="Calibri" pitchFamily="34" charset="0"/>
                <a:ea typeface="Calibri" pitchFamily="34" charset="-122"/>
                <a:cs typeface="Calibri" pitchFamily="34" charset="-120"/>
              </a:rPr>
              <a:t>FTC decreases by 48.574</a:t>
            </a:r>
            <a:endParaRPr lang="en-US" sz="1100" dirty="0"/>
          </a:p>
        </p:txBody>
      </p:sp>
      <p:sp>
        <p:nvSpPr>
          <p:cNvPr id="42" name="Text 40"/>
          <p:cNvSpPr txBox="1"/>
          <p:nvPr/>
        </p:nvSpPr>
        <p:spPr>
          <a:xfrm>
            <a:off x="9418320" y="3200400"/>
            <a:ext cx="2011680" cy="384048"/>
          </a:xfrm>
          <a:prstGeom prst="rect">
            <a:avLst/>
          </a:prstGeom>
          <a:noFill/>
          <a:ln/>
        </p:spPr>
        <p:txBody>
          <a:bodyPr wrap="square" rtlCol="0" anchor="ctr"/>
          <a:lstStyle/>
          <a:p>
            <a:pPr algn="r" indent="0" marL="0">
              <a:buNone/>
            </a:pPr>
            <a:r>
              <a:rPr lang="en-US" sz="1050" dirty="0">
                <a:solidFill>
                  <a:srgbClr val="394150"/>
                </a:solidFill>
                <a:latin typeface="Calibri" pitchFamily="34" charset="0"/>
                <a:ea typeface="Calibri" pitchFamily="34" charset="-122"/>
                <a:cs typeface="Calibri" pitchFamily="34" charset="-120"/>
              </a:rPr>
              <a:t>267.931 to 219.357</a:t>
            </a:r>
            <a:endParaRPr lang="en-US" sz="1050" dirty="0"/>
          </a:p>
        </p:txBody>
      </p:sp>
      <p:sp>
        <p:nvSpPr>
          <p:cNvPr id="43" name="Text 41"/>
          <p:cNvSpPr txBox="1"/>
          <p:nvPr/>
        </p:nvSpPr>
        <p:spPr>
          <a:xfrm>
            <a:off x="6675120" y="3730752"/>
            <a:ext cx="2743200" cy="384048"/>
          </a:xfrm>
          <a:prstGeom prst="rect">
            <a:avLst/>
          </a:prstGeom>
          <a:noFill/>
          <a:ln/>
        </p:spPr>
        <p:txBody>
          <a:bodyPr wrap="square" rtlCol="0" anchor="ctr"/>
          <a:lstStyle/>
          <a:p>
            <a:pPr indent="0" marL="0">
              <a:buNone/>
            </a:pPr>
            <a:r>
              <a:rPr lang="en-US" sz="1100" b="1" dirty="0">
                <a:solidFill>
                  <a:srgbClr val="173A5E"/>
                </a:solidFill>
                <a:latin typeface="Calibri" pitchFamily="34" charset="0"/>
                <a:ea typeface="Calibri" pitchFamily="34" charset="-122"/>
                <a:cs typeface="Calibri" pitchFamily="34" charset="-120"/>
              </a:rPr>
              <a:t>•  </a:t>
            </a:r>
            <a:pPr indent="0" marL="0">
              <a:buNone/>
            </a:pPr>
            <a:r>
              <a:rPr lang="en-US" sz="1100" b="1" dirty="0">
                <a:solidFill>
                  <a:srgbClr val="1E2530"/>
                </a:solidFill>
                <a:latin typeface="Calibri" pitchFamily="34" charset="0"/>
                <a:ea typeface="Calibri" pitchFamily="34" charset="-122"/>
                <a:cs typeface="Calibri" pitchFamily="34" charset="-120"/>
              </a:rPr>
              <a:t>FTE/MGCC increases by 47.032</a:t>
            </a:r>
            <a:endParaRPr lang="en-US" sz="1100" dirty="0"/>
          </a:p>
        </p:txBody>
      </p:sp>
      <p:sp>
        <p:nvSpPr>
          <p:cNvPr id="44" name="Text 42"/>
          <p:cNvSpPr txBox="1"/>
          <p:nvPr/>
        </p:nvSpPr>
        <p:spPr>
          <a:xfrm>
            <a:off x="9418320" y="3730752"/>
            <a:ext cx="2011680" cy="384048"/>
          </a:xfrm>
          <a:prstGeom prst="rect">
            <a:avLst/>
          </a:prstGeom>
          <a:noFill/>
          <a:ln/>
        </p:spPr>
        <p:txBody>
          <a:bodyPr wrap="square" rtlCol="0" anchor="ctr"/>
          <a:lstStyle/>
          <a:p>
            <a:pPr algn="r" indent="0" marL="0">
              <a:buNone/>
            </a:pPr>
            <a:r>
              <a:rPr lang="en-US" sz="1050" dirty="0">
                <a:solidFill>
                  <a:srgbClr val="394150"/>
                </a:solidFill>
                <a:latin typeface="Calibri" pitchFamily="34" charset="0"/>
                <a:ea typeface="Calibri" pitchFamily="34" charset="-122"/>
                <a:cs typeface="Calibri" pitchFamily="34" charset="-120"/>
              </a:rPr>
              <a:t>172.325 to 219.357</a:t>
            </a:r>
            <a:endParaRPr lang="en-US" sz="1050" dirty="0"/>
          </a:p>
        </p:txBody>
      </p:sp>
      <p:sp>
        <p:nvSpPr>
          <p:cNvPr id="45" name="Text 43"/>
          <p:cNvSpPr txBox="1"/>
          <p:nvPr/>
        </p:nvSpPr>
        <p:spPr>
          <a:xfrm>
            <a:off x="6675120" y="4261104"/>
            <a:ext cx="2743200" cy="384048"/>
          </a:xfrm>
          <a:prstGeom prst="rect">
            <a:avLst/>
          </a:prstGeom>
          <a:noFill/>
          <a:ln/>
        </p:spPr>
        <p:txBody>
          <a:bodyPr wrap="square" rtlCol="0" anchor="ctr"/>
          <a:lstStyle/>
          <a:p>
            <a:pPr indent="0" marL="0">
              <a:buNone/>
            </a:pPr>
            <a:r>
              <a:rPr lang="en-US" sz="1100" b="1" dirty="0">
                <a:solidFill>
                  <a:srgbClr val="173A5E"/>
                </a:solidFill>
                <a:latin typeface="Calibri" pitchFamily="34" charset="0"/>
                <a:ea typeface="Calibri" pitchFamily="34" charset="-122"/>
                <a:cs typeface="Calibri" pitchFamily="34" charset="-120"/>
              </a:rPr>
              <a:t>•  </a:t>
            </a:r>
            <a:pPr indent="0" marL="0">
              <a:buNone/>
            </a:pPr>
            <a:r>
              <a:rPr lang="en-US" sz="1100" b="1" dirty="0">
                <a:solidFill>
                  <a:srgbClr val="1E2530"/>
                </a:solidFill>
                <a:latin typeface="Calibri" pitchFamily="34" charset="0"/>
                <a:ea typeface="Calibri" pitchFamily="34" charset="-122"/>
                <a:cs typeface="Calibri" pitchFamily="34" charset="-120"/>
              </a:rPr>
              <a:t>Total capacity remains unchanged</a:t>
            </a:r>
            <a:endParaRPr lang="en-US" sz="1100" dirty="0"/>
          </a:p>
        </p:txBody>
      </p:sp>
      <p:sp>
        <p:nvSpPr>
          <p:cNvPr id="46" name="Text 44"/>
          <p:cNvSpPr txBox="1"/>
          <p:nvPr/>
        </p:nvSpPr>
        <p:spPr>
          <a:xfrm>
            <a:off x="9418320" y="4261104"/>
            <a:ext cx="2011680" cy="384048"/>
          </a:xfrm>
          <a:prstGeom prst="rect">
            <a:avLst/>
          </a:prstGeom>
          <a:noFill/>
          <a:ln/>
        </p:spPr>
        <p:txBody>
          <a:bodyPr wrap="square" rtlCol="0" anchor="ctr"/>
          <a:lstStyle/>
          <a:p>
            <a:pPr algn="r" indent="0" marL="0">
              <a:buNone/>
            </a:pPr>
            <a:r>
              <a:rPr lang="en-US" sz="1050" dirty="0">
                <a:solidFill>
                  <a:srgbClr val="394150"/>
                </a:solidFill>
                <a:latin typeface="Calibri" pitchFamily="34" charset="0"/>
                <a:ea typeface="Calibri" pitchFamily="34" charset="-122"/>
                <a:cs typeface="Calibri" pitchFamily="34" charset="-120"/>
              </a:rPr>
              <a:t>438.714</a:t>
            </a:r>
            <a:endParaRPr lang="en-US" sz="1050" dirty="0"/>
          </a:p>
        </p:txBody>
      </p:sp>
      <p:sp>
        <p:nvSpPr>
          <p:cNvPr id="47" name="Text 45"/>
          <p:cNvSpPr txBox="1"/>
          <p:nvPr/>
        </p:nvSpPr>
        <p:spPr>
          <a:xfrm>
            <a:off x="6675120" y="4791456"/>
            <a:ext cx="2743200" cy="384048"/>
          </a:xfrm>
          <a:prstGeom prst="rect">
            <a:avLst/>
          </a:prstGeom>
          <a:noFill/>
          <a:ln/>
        </p:spPr>
        <p:txBody>
          <a:bodyPr wrap="square" rtlCol="0" anchor="ctr"/>
          <a:lstStyle/>
          <a:p>
            <a:pPr indent="0" marL="0">
              <a:buNone/>
            </a:pPr>
            <a:r>
              <a:rPr lang="en-US" sz="1100" b="1" dirty="0">
                <a:solidFill>
                  <a:srgbClr val="173A5E"/>
                </a:solidFill>
                <a:latin typeface="Calibri" pitchFamily="34" charset="0"/>
                <a:ea typeface="Calibri" pitchFamily="34" charset="-122"/>
                <a:cs typeface="Calibri" pitchFamily="34" charset="-120"/>
              </a:rPr>
              <a:t>•  </a:t>
            </a:r>
            <a:pPr indent="0" marL="0">
              <a:buNone/>
            </a:pPr>
            <a:r>
              <a:rPr lang="en-US" sz="1100" b="1" dirty="0">
                <a:solidFill>
                  <a:srgbClr val="1E2530"/>
                </a:solidFill>
                <a:latin typeface="Calibri" pitchFamily="34" charset="0"/>
                <a:ea typeface="Calibri" pitchFamily="34" charset="-122"/>
                <a:cs typeface="Calibri" pitchFamily="34" charset="-120"/>
              </a:rPr>
              <a:t>Current mix</a:t>
            </a:r>
            <a:endParaRPr lang="en-US" sz="1100" dirty="0"/>
          </a:p>
        </p:txBody>
      </p:sp>
      <p:sp>
        <p:nvSpPr>
          <p:cNvPr id="48" name="Text 46"/>
          <p:cNvSpPr txBox="1"/>
          <p:nvPr/>
        </p:nvSpPr>
        <p:spPr>
          <a:xfrm>
            <a:off x="9418320" y="4791456"/>
            <a:ext cx="2011680" cy="384048"/>
          </a:xfrm>
          <a:prstGeom prst="rect">
            <a:avLst/>
          </a:prstGeom>
          <a:noFill/>
          <a:ln/>
        </p:spPr>
        <p:txBody>
          <a:bodyPr wrap="square" rtlCol="0" anchor="ctr"/>
          <a:lstStyle/>
          <a:p>
            <a:pPr algn="r" indent="0" marL="0">
              <a:buNone/>
            </a:pPr>
            <a:r>
              <a:rPr lang="en-US" sz="1050" dirty="0">
                <a:solidFill>
                  <a:srgbClr val="394150"/>
                </a:solidFill>
                <a:latin typeface="Calibri" pitchFamily="34" charset="0"/>
                <a:ea typeface="Calibri" pitchFamily="34" charset="-122"/>
                <a:cs typeface="Calibri" pitchFamily="34" charset="-120"/>
              </a:rPr>
              <a:t>61.1% FTC | 38.9% FTE/MGCC</a:t>
            </a:r>
            <a:endParaRPr lang="en-US" sz="1050" dirty="0"/>
          </a:p>
        </p:txBody>
      </p:sp>
      <p:sp>
        <p:nvSpPr>
          <p:cNvPr id="49" name="Text 47"/>
          <p:cNvSpPr txBox="1"/>
          <p:nvPr/>
        </p:nvSpPr>
        <p:spPr>
          <a:xfrm>
            <a:off x="6675120" y="5321808"/>
            <a:ext cx="2743200" cy="384048"/>
          </a:xfrm>
          <a:prstGeom prst="rect">
            <a:avLst/>
          </a:prstGeom>
          <a:noFill/>
          <a:ln/>
        </p:spPr>
        <p:txBody>
          <a:bodyPr wrap="square" rtlCol="0" anchor="ctr"/>
          <a:lstStyle/>
          <a:p>
            <a:pPr indent="0" marL="0">
              <a:buNone/>
            </a:pPr>
            <a:r>
              <a:rPr lang="en-US" sz="1100" b="1" dirty="0">
                <a:solidFill>
                  <a:srgbClr val="173A5E"/>
                </a:solidFill>
                <a:latin typeface="Calibri" pitchFamily="34" charset="0"/>
                <a:ea typeface="Calibri" pitchFamily="34" charset="-122"/>
                <a:cs typeface="Calibri" pitchFamily="34" charset="-120"/>
              </a:rPr>
              <a:t>•  </a:t>
            </a:r>
            <a:pPr indent="0" marL="0">
              <a:buNone/>
            </a:pPr>
            <a:r>
              <a:rPr lang="en-US" sz="1100" b="1" dirty="0">
                <a:solidFill>
                  <a:srgbClr val="1E2530"/>
                </a:solidFill>
                <a:latin typeface="Calibri" pitchFamily="34" charset="0"/>
                <a:ea typeface="Calibri" pitchFamily="34" charset="-122"/>
                <a:cs typeface="Calibri" pitchFamily="34" charset="-120"/>
              </a:rPr>
              <a:t>Target mix</a:t>
            </a:r>
            <a:endParaRPr lang="en-US" sz="1100" dirty="0"/>
          </a:p>
        </p:txBody>
      </p:sp>
      <p:sp>
        <p:nvSpPr>
          <p:cNvPr id="50" name="Text 48"/>
          <p:cNvSpPr txBox="1"/>
          <p:nvPr/>
        </p:nvSpPr>
        <p:spPr>
          <a:xfrm>
            <a:off x="9418320" y="5321808"/>
            <a:ext cx="2011680" cy="384048"/>
          </a:xfrm>
          <a:prstGeom prst="rect">
            <a:avLst/>
          </a:prstGeom>
          <a:noFill/>
          <a:ln/>
        </p:spPr>
        <p:txBody>
          <a:bodyPr wrap="square" rtlCol="0" anchor="ctr"/>
          <a:lstStyle/>
          <a:p>
            <a:pPr algn="r" indent="0" marL="0">
              <a:buNone/>
            </a:pPr>
            <a:r>
              <a:rPr lang="en-US" sz="1050" dirty="0">
                <a:solidFill>
                  <a:srgbClr val="394150"/>
                </a:solidFill>
                <a:latin typeface="Calibri" pitchFamily="34" charset="0"/>
                <a:ea typeface="Calibri" pitchFamily="34" charset="-122"/>
                <a:cs typeface="Calibri" pitchFamily="34" charset="-120"/>
              </a:rPr>
              <a:t>50.0% FTC | 50.0% FTE/MGCC</a:t>
            </a:r>
            <a:endParaRPr lang="en-US" sz="1050" dirty="0"/>
          </a:p>
        </p:txBody>
      </p:sp>
      <p:sp>
        <p:nvSpPr>
          <p:cNvPr id="51" name="Text 49"/>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52" name="Text 50"/>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53" name="Text 51"/>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Current portfolio: a concentrated, cloud-leaning sales and recruitment estate</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Portfolio facts are drawn from the Target EA Inventory (Appendix 3); workforce totals use the AD-scope role split.</a:t>
            </a:r>
            <a:endParaRPr lang="en-US" sz="1100" dirty="0"/>
          </a:p>
        </p:txBody>
      </p:sp>
      <p:sp>
        <p:nvSpPr>
          <p:cNvPr id="5" name="Shape 3"/>
          <p:cNvSpPr/>
          <p:nvPr/>
        </p:nvSpPr>
        <p:spPr>
          <a:xfrm>
            <a:off x="457200" y="1078992"/>
            <a:ext cx="2651760" cy="365760"/>
          </a:xfrm>
          <a:prstGeom prst="roundRect">
            <a:avLst>
              <a:gd name="adj" fmla="val 15000"/>
            </a:avLst>
          </a:prstGeom>
          <a:solidFill>
            <a:srgbClr val="173A5E"/>
          </a:solidFill>
          <a:ln/>
        </p:spPr>
      </p:sp>
      <p:sp>
        <p:nvSpPr>
          <p:cNvPr id="6" name="Text 4"/>
          <p:cNvSpPr txBox="1"/>
          <p:nvPr/>
        </p:nvSpPr>
        <p:spPr>
          <a:xfrm>
            <a:off x="457200" y="1078992"/>
            <a:ext cx="2651760" cy="365760"/>
          </a:xfrm>
          <a:prstGeom prst="rect">
            <a:avLst/>
          </a:prstGeom>
          <a:noFill/>
          <a:ln/>
        </p:spPr>
        <p:txBody>
          <a:bodyPr wrap="square"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PORTFOLIO AT A GLANCE</a:t>
            </a:r>
            <a:endParaRPr lang="en-US" sz="1100" dirty="0"/>
          </a:p>
        </p:txBody>
      </p:sp>
      <p:sp>
        <p:nvSpPr>
          <p:cNvPr id="7" name="Text 5"/>
          <p:cNvSpPr txBox="1"/>
          <p:nvPr/>
        </p:nvSpPr>
        <p:spPr>
          <a:xfrm>
            <a:off x="457200" y="1691640"/>
            <a:ext cx="1371600" cy="502920"/>
          </a:xfrm>
          <a:prstGeom prst="rect">
            <a:avLst/>
          </a:prstGeom>
          <a:noFill/>
          <a:ln/>
        </p:spPr>
        <p:txBody>
          <a:bodyPr wrap="square" rtlCol="0" anchor="b"/>
          <a:lstStyle/>
          <a:p>
            <a:pPr algn="l" indent="0" marL="0">
              <a:buNone/>
            </a:pPr>
            <a:r>
              <a:rPr lang="en-US" sz="3000" b="1" dirty="0">
                <a:solidFill>
                  <a:srgbClr val="173A5E"/>
                </a:solidFill>
                <a:latin typeface="Calibri" pitchFamily="34" charset="0"/>
                <a:ea typeface="Calibri" pitchFamily="34" charset="-122"/>
                <a:cs typeface="Calibri" pitchFamily="34" charset="-120"/>
              </a:rPr>
              <a:t>13</a:t>
            </a:r>
            <a:endParaRPr lang="en-US" sz="3000" dirty="0"/>
          </a:p>
        </p:txBody>
      </p:sp>
      <p:sp>
        <p:nvSpPr>
          <p:cNvPr id="8" name="Text 6"/>
          <p:cNvSpPr txBox="1"/>
          <p:nvPr/>
        </p:nvSpPr>
        <p:spPr>
          <a:xfrm>
            <a:off x="457200" y="2221992"/>
            <a:ext cx="1645920" cy="365760"/>
          </a:xfrm>
          <a:prstGeom prst="rect">
            <a:avLst/>
          </a:prstGeom>
          <a:noFill/>
          <a:ln/>
        </p:spPr>
        <p:txBody>
          <a:bodyPr wrap="square"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Applications</a:t>
            </a:r>
            <a:endParaRPr lang="en-US" sz="950" dirty="0"/>
          </a:p>
        </p:txBody>
      </p:sp>
      <p:sp>
        <p:nvSpPr>
          <p:cNvPr id="9" name="Text 7"/>
          <p:cNvSpPr txBox="1"/>
          <p:nvPr/>
        </p:nvSpPr>
        <p:spPr>
          <a:xfrm>
            <a:off x="1874520" y="1691640"/>
            <a:ext cx="1371600" cy="502920"/>
          </a:xfrm>
          <a:prstGeom prst="rect">
            <a:avLst/>
          </a:prstGeom>
          <a:noFill/>
          <a:ln/>
        </p:spPr>
        <p:txBody>
          <a:bodyPr wrap="square" rtlCol="0" anchor="b"/>
          <a:lstStyle/>
          <a:p>
            <a:pPr algn="l" indent="0" marL="0">
              <a:buNone/>
            </a:pPr>
            <a:r>
              <a:rPr lang="en-US" sz="3000" b="1" dirty="0">
                <a:solidFill>
                  <a:srgbClr val="173A5E"/>
                </a:solidFill>
                <a:latin typeface="Calibri" pitchFamily="34" charset="0"/>
                <a:ea typeface="Calibri" pitchFamily="34" charset="-122"/>
                <a:cs typeface="Calibri" pitchFamily="34" charset="-120"/>
              </a:rPr>
              <a:t>9</a:t>
            </a:r>
            <a:endParaRPr lang="en-US" sz="3000" dirty="0"/>
          </a:p>
        </p:txBody>
      </p:sp>
      <p:sp>
        <p:nvSpPr>
          <p:cNvPr id="10" name="Text 8"/>
          <p:cNvSpPr txBox="1"/>
          <p:nvPr/>
        </p:nvSpPr>
        <p:spPr>
          <a:xfrm>
            <a:off x="1874520" y="2221992"/>
            <a:ext cx="1645920" cy="365760"/>
          </a:xfrm>
          <a:prstGeom prst="rect">
            <a:avLst/>
          </a:prstGeom>
          <a:noFill/>
          <a:ln/>
        </p:spPr>
        <p:txBody>
          <a:bodyPr wrap="square"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Core business apps</a:t>
            </a:r>
            <a:endParaRPr lang="en-US" sz="950" dirty="0"/>
          </a:p>
        </p:txBody>
      </p:sp>
      <p:sp>
        <p:nvSpPr>
          <p:cNvPr id="11" name="Text 9"/>
          <p:cNvSpPr txBox="1"/>
          <p:nvPr/>
        </p:nvSpPr>
        <p:spPr>
          <a:xfrm>
            <a:off x="3291840" y="1691640"/>
            <a:ext cx="1371600" cy="502920"/>
          </a:xfrm>
          <a:prstGeom prst="rect">
            <a:avLst/>
          </a:prstGeom>
          <a:noFill/>
          <a:ln/>
        </p:spPr>
        <p:txBody>
          <a:bodyPr wrap="square" rtlCol="0" anchor="b"/>
          <a:lstStyle/>
          <a:p>
            <a:pPr algn="l" indent="0" marL="0">
              <a:buNone/>
            </a:pPr>
            <a:r>
              <a:rPr lang="en-US" sz="3000" b="1" dirty="0">
                <a:solidFill>
                  <a:srgbClr val="173A5E"/>
                </a:solidFill>
                <a:latin typeface="Calibri" pitchFamily="34" charset="0"/>
                <a:ea typeface="Calibri" pitchFamily="34" charset="-122"/>
                <a:cs typeface="Calibri" pitchFamily="34" charset="-120"/>
              </a:rPr>
              <a:t>1</a:t>
            </a:r>
            <a:endParaRPr lang="en-US" sz="3000" dirty="0"/>
          </a:p>
        </p:txBody>
      </p:sp>
      <p:sp>
        <p:nvSpPr>
          <p:cNvPr id="12" name="Text 10"/>
          <p:cNvSpPr txBox="1"/>
          <p:nvPr/>
        </p:nvSpPr>
        <p:spPr>
          <a:xfrm>
            <a:off x="3291840" y="2221992"/>
            <a:ext cx="1645920" cy="365760"/>
          </a:xfrm>
          <a:prstGeom prst="rect">
            <a:avLst/>
          </a:prstGeom>
          <a:noFill/>
          <a:ln/>
        </p:spPr>
        <p:txBody>
          <a:bodyPr wrap="square"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Critical apps</a:t>
            </a:r>
            <a:endParaRPr lang="en-US" sz="950" dirty="0"/>
          </a:p>
        </p:txBody>
      </p:sp>
      <p:sp>
        <p:nvSpPr>
          <p:cNvPr id="13" name="Text 11"/>
          <p:cNvSpPr txBox="1"/>
          <p:nvPr/>
        </p:nvSpPr>
        <p:spPr>
          <a:xfrm>
            <a:off x="4709160" y="1691640"/>
            <a:ext cx="1371600" cy="502920"/>
          </a:xfrm>
          <a:prstGeom prst="rect">
            <a:avLst/>
          </a:prstGeom>
          <a:noFill/>
          <a:ln/>
        </p:spPr>
        <p:txBody>
          <a:bodyPr wrap="square" rtlCol="0" anchor="b"/>
          <a:lstStyle/>
          <a:p>
            <a:pPr algn="l" indent="0" marL="0">
              <a:buNone/>
            </a:pPr>
            <a:r>
              <a:rPr lang="en-US" sz="3000" b="1" dirty="0">
                <a:solidFill>
                  <a:srgbClr val="173A5E"/>
                </a:solidFill>
                <a:latin typeface="Calibri" pitchFamily="34" charset="0"/>
                <a:ea typeface="Calibri" pitchFamily="34" charset="-122"/>
                <a:cs typeface="Calibri" pitchFamily="34" charset="-120"/>
              </a:rPr>
              <a:t>9</a:t>
            </a:r>
            <a:endParaRPr lang="en-US" sz="3000" dirty="0"/>
          </a:p>
        </p:txBody>
      </p:sp>
      <p:sp>
        <p:nvSpPr>
          <p:cNvPr id="14" name="Text 12"/>
          <p:cNvSpPr txBox="1"/>
          <p:nvPr/>
        </p:nvSpPr>
        <p:spPr>
          <a:xfrm>
            <a:off x="4709160" y="2221992"/>
            <a:ext cx="1645920" cy="365760"/>
          </a:xfrm>
          <a:prstGeom prst="rect">
            <a:avLst/>
          </a:prstGeom>
          <a:noFill/>
          <a:ln/>
        </p:spPr>
        <p:txBody>
          <a:bodyPr wrap="square"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Cloud-enabled</a:t>
            </a:r>
            <a:endParaRPr lang="en-US" sz="950" dirty="0"/>
          </a:p>
        </p:txBody>
      </p:sp>
      <p:sp>
        <p:nvSpPr>
          <p:cNvPr id="15" name="Text 13"/>
          <p:cNvSpPr txBox="1"/>
          <p:nvPr/>
        </p:nvSpPr>
        <p:spPr>
          <a:xfrm>
            <a:off x="6126480" y="1691640"/>
            <a:ext cx="1371600" cy="502920"/>
          </a:xfrm>
          <a:prstGeom prst="rect">
            <a:avLst/>
          </a:prstGeom>
          <a:noFill/>
          <a:ln/>
        </p:spPr>
        <p:txBody>
          <a:bodyPr wrap="square" rtlCol="0" anchor="b"/>
          <a:lstStyle/>
          <a:p>
            <a:pPr algn="l" indent="0" marL="0">
              <a:buNone/>
            </a:pPr>
            <a:r>
              <a:rPr lang="en-US" sz="3000" b="1" dirty="0">
                <a:solidFill>
                  <a:srgbClr val="173A5E"/>
                </a:solidFill>
                <a:latin typeface="Calibri" pitchFamily="34" charset="0"/>
                <a:ea typeface="Calibri" pitchFamily="34" charset="-122"/>
                <a:cs typeface="Calibri" pitchFamily="34" charset="-120"/>
              </a:rPr>
              <a:t>3</a:t>
            </a:r>
            <a:endParaRPr lang="en-US" sz="3000" dirty="0"/>
          </a:p>
        </p:txBody>
      </p:sp>
      <p:sp>
        <p:nvSpPr>
          <p:cNvPr id="16" name="Text 14"/>
          <p:cNvSpPr txBox="1"/>
          <p:nvPr/>
        </p:nvSpPr>
        <p:spPr>
          <a:xfrm>
            <a:off x="6126480" y="2221992"/>
            <a:ext cx="1645920" cy="365760"/>
          </a:xfrm>
          <a:prstGeom prst="rect">
            <a:avLst/>
          </a:prstGeom>
          <a:noFill/>
          <a:ln/>
        </p:spPr>
        <p:txBody>
          <a:bodyPr wrap="square"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Internet-facing</a:t>
            </a:r>
            <a:endParaRPr lang="en-US" sz="950" dirty="0"/>
          </a:p>
        </p:txBody>
      </p:sp>
      <p:sp>
        <p:nvSpPr>
          <p:cNvPr id="17" name="Text 15"/>
          <p:cNvSpPr txBox="1"/>
          <p:nvPr/>
        </p:nvSpPr>
        <p:spPr>
          <a:xfrm>
            <a:off x="457200" y="2606040"/>
            <a:ext cx="6400800" cy="292608"/>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Workforce concentration (Top 6, by Current + Target capacity)</a:t>
            </a:r>
            <a:endParaRPr lang="en-US" sz="1400" dirty="0"/>
          </a:p>
        </p:txBody>
      </p:sp>
      <p:sp>
        <p:nvSpPr>
          <p:cNvPr id="18" name="Text 16"/>
          <p:cNvSpPr txBox="1"/>
          <p:nvPr/>
        </p:nvSpPr>
        <p:spPr>
          <a:xfrm>
            <a:off x="457200" y="2999232"/>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JP-GSSP</a:t>
            </a:r>
            <a:endParaRPr lang="en-US" sz="1000" dirty="0"/>
          </a:p>
        </p:txBody>
      </p:sp>
      <p:sp>
        <p:nvSpPr>
          <p:cNvPr id="19" name="Shape 17"/>
          <p:cNvSpPr/>
          <p:nvPr/>
        </p:nvSpPr>
        <p:spPr>
          <a:xfrm>
            <a:off x="2194560" y="3054096"/>
            <a:ext cx="4160520" cy="237744"/>
          </a:xfrm>
          <a:prstGeom prst="rect">
            <a:avLst/>
          </a:prstGeom>
          <a:solidFill>
            <a:srgbClr val="1E7FB8"/>
          </a:solidFill>
          <a:ln/>
        </p:spPr>
      </p:sp>
      <p:sp>
        <p:nvSpPr>
          <p:cNvPr id="20" name="Text 18"/>
          <p:cNvSpPr txBox="1"/>
          <p:nvPr/>
        </p:nvSpPr>
        <p:spPr>
          <a:xfrm>
            <a:off x="6428232" y="2999232"/>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229.913</a:t>
            </a:r>
            <a:endParaRPr lang="en-US" sz="950" dirty="0"/>
          </a:p>
        </p:txBody>
      </p:sp>
      <p:sp>
        <p:nvSpPr>
          <p:cNvPr id="21" name="Text 19"/>
          <p:cNvSpPr txBox="1"/>
          <p:nvPr/>
        </p:nvSpPr>
        <p:spPr>
          <a:xfrm>
            <a:off x="457200" y="3419856"/>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JP-BANCA</a:t>
            </a:r>
            <a:endParaRPr lang="en-US" sz="1000" dirty="0"/>
          </a:p>
        </p:txBody>
      </p:sp>
      <p:sp>
        <p:nvSpPr>
          <p:cNvPr id="22" name="Shape 20"/>
          <p:cNvSpPr/>
          <p:nvPr/>
        </p:nvSpPr>
        <p:spPr>
          <a:xfrm>
            <a:off x="2194560" y="3474720"/>
            <a:ext cx="1990567" cy="237744"/>
          </a:xfrm>
          <a:prstGeom prst="rect">
            <a:avLst/>
          </a:prstGeom>
          <a:solidFill>
            <a:srgbClr val="1E7FB8"/>
          </a:solidFill>
          <a:ln/>
        </p:spPr>
      </p:sp>
      <p:sp>
        <p:nvSpPr>
          <p:cNvPr id="23" name="Text 21"/>
          <p:cNvSpPr txBox="1"/>
          <p:nvPr/>
        </p:nvSpPr>
        <p:spPr>
          <a:xfrm>
            <a:off x="4258279" y="3419856"/>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110.000</a:t>
            </a:r>
            <a:endParaRPr lang="en-US" sz="950" dirty="0"/>
          </a:p>
        </p:txBody>
      </p:sp>
      <p:sp>
        <p:nvSpPr>
          <p:cNvPr id="24" name="Text 22"/>
          <p:cNvSpPr txBox="1"/>
          <p:nvPr/>
        </p:nvSpPr>
        <p:spPr>
          <a:xfrm>
            <a:off x="457200" y="3840480"/>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WPSCFC-JPN</a:t>
            </a:r>
            <a:endParaRPr lang="en-US" sz="1000" dirty="0"/>
          </a:p>
        </p:txBody>
      </p:sp>
      <p:sp>
        <p:nvSpPr>
          <p:cNvPr id="25" name="Shape 23"/>
          <p:cNvSpPr/>
          <p:nvPr/>
        </p:nvSpPr>
        <p:spPr>
          <a:xfrm>
            <a:off x="2194560" y="3895344"/>
            <a:ext cx="788301" cy="237744"/>
          </a:xfrm>
          <a:prstGeom prst="rect">
            <a:avLst/>
          </a:prstGeom>
          <a:solidFill>
            <a:srgbClr val="1E7FB8"/>
          </a:solidFill>
          <a:ln/>
        </p:spPr>
      </p:sp>
      <p:sp>
        <p:nvSpPr>
          <p:cNvPr id="26" name="Text 24"/>
          <p:cNvSpPr txBox="1"/>
          <p:nvPr/>
        </p:nvSpPr>
        <p:spPr>
          <a:xfrm>
            <a:off x="3056013" y="3840480"/>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43.562</a:t>
            </a:r>
            <a:endParaRPr lang="en-US" sz="950" dirty="0"/>
          </a:p>
        </p:txBody>
      </p:sp>
      <p:sp>
        <p:nvSpPr>
          <p:cNvPr id="27" name="Text 25"/>
          <p:cNvSpPr txBox="1"/>
          <p:nvPr/>
        </p:nvSpPr>
        <p:spPr>
          <a:xfrm>
            <a:off x="457200" y="4261104"/>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P02BKE-JPN</a:t>
            </a:r>
            <a:endParaRPr lang="en-US" sz="1000" dirty="0"/>
          </a:p>
        </p:txBody>
      </p:sp>
      <p:sp>
        <p:nvSpPr>
          <p:cNvPr id="28" name="Shape 26"/>
          <p:cNvSpPr/>
          <p:nvPr/>
        </p:nvSpPr>
        <p:spPr>
          <a:xfrm>
            <a:off x="2194560" y="4315968"/>
            <a:ext cx="276417" cy="237744"/>
          </a:xfrm>
          <a:prstGeom prst="rect">
            <a:avLst/>
          </a:prstGeom>
          <a:solidFill>
            <a:srgbClr val="1E7FB8"/>
          </a:solidFill>
          <a:ln/>
        </p:spPr>
      </p:sp>
      <p:sp>
        <p:nvSpPr>
          <p:cNvPr id="29" name="Text 27"/>
          <p:cNvSpPr txBox="1"/>
          <p:nvPr/>
        </p:nvSpPr>
        <p:spPr>
          <a:xfrm>
            <a:off x="2544129" y="4261104"/>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15.275</a:t>
            </a:r>
            <a:endParaRPr lang="en-US" sz="950" dirty="0"/>
          </a:p>
        </p:txBody>
      </p:sp>
      <p:sp>
        <p:nvSpPr>
          <p:cNvPr id="30" name="Text 28"/>
          <p:cNvSpPr txBox="1"/>
          <p:nvPr/>
        </p:nvSpPr>
        <p:spPr>
          <a:xfrm>
            <a:off x="457200" y="4681728"/>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JP-Banca Report</a:t>
            </a:r>
            <a:endParaRPr lang="en-US" sz="1000" dirty="0"/>
          </a:p>
        </p:txBody>
      </p:sp>
      <p:sp>
        <p:nvSpPr>
          <p:cNvPr id="31" name="Shape 29"/>
          <p:cNvSpPr/>
          <p:nvPr/>
        </p:nvSpPr>
        <p:spPr>
          <a:xfrm>
            <a:off x="2194560" y="4736592"/>
            <a:ext cx="271441" cy="237744"/>
          </a:xfrm>
          <a:prstGeom prst="rect">
            <a:avLst/>
          </a:prstGeom>
          <a:solidFill>
            <a:srgbClr val="1E7FB8"/>
          </a:solidFill>
          <a:ln/>
        </p:spPr>
      </p:sp>
      <p:sp>
        <p:nvSpPr>
          <p:cNvPr id="32" name="Text 30"/>
          <p:cNvSpPr txBox="1"/>
          <p:nvPr/>
        </p:nvSpPr>
        <p:spPr>
          <a:xfrm>
            <a:off x="2539153" y="4681728"/>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15.000</a:t>
            </a:r>
            <a:endParaRPr lang="en-US" sz="950" dirty="0"/>
          </a:p>
        </p:txBody>
      </p:sp>
      <p:sp>
        <p:nvSpPr>
          <p:cNvPr id="33" name="Text 31"/>
          <p:cNvSpPr txBox="1"/>
          <p:nvPr/>
        </p:nvSpPr>
        <p:spPr>
          <a:xfrm>
            <a:off x="457200" y="5102352"/>
            <a:ext cx="1645920" cy="347472"/>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JP - Remote Closing</a:t>
            </a:r>
            <a:endParaRPr lang="en-US" sz="1000" dirty="0"/>
          </a:p>
        </p:txBody>
      </p:sp>
      <p:sp>
        <p:nvSpPr>
          <p:cNvPr id="34" name="Shape 32"/>
          <p:cNvSpPr/>
          <p:nvPr/>
        </p:nvSpPr>
        <p:spPr>
          <a:xfrm>
            <a:off x="2194560" y="5157216"/>
            <a:ext cx="220917" cy="237744"/>
          </a:xfrm>
          <a:prstGeom prst="rect">
            <a:avLst/>
          </a:prstGeom>
          <a:solidFill>
            <a:srgbClr val="1E7FB8"/>
          </a:solidFill>
          <a:ln/>
        </p:spPr>
      </p:sp>
      <p:sp>
        <p:nvSpPr>
          <p:cNvPr id="35" name="Text 33"/>
          <p:cNvSpPr txBox="1"/>
          <p:nvPr/>
        </p:nvSpPr>
        <p:spPr>
          <a:xfrm>
            <a:off x="2488629" y="5102352"/>
            <a:ext cx="822960" cy="347472"/>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12.208</a:t>
            </a:r>
            <a:endParaRPr lang="en-US" sz="950" dirty="0"/>
          </a:p>
        </p:txBody>
      </p:sp>
      <p:sp>
        <p:nvSpPr>
          <p:cNvPr id="36" name="Text 34"/>
          <p:cNvSpPr txBox="1"/>
          <p:nvPr/>
        </p:nvSpPr>
        <p:spPr>
          <a:xfrm>
            <a:off x="7086600" y="1691640"/>
            <a:ext cx="4663440" cy="292608"/>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Technology footprint (primary language)</a:t>
            </a:r>
            <a:endParaRPr lang="en-US" sz="1400" dirty="0"/>
          </a:p>
        </p:txBody>
      </p:sp>
      <p:sp>
        <p:nvSpPr>
          <p:cNvPr id="37" name="Text 35"/>
          <p:cNvSpPr txBox="1"/>
          <p:nvPr/>
        </p:nvSpPr>
        <p:spPr>
          <a:xfrm>
            <a:off x="7086600" y="2103120"/>
            <a:ext cx="1737360" cy="329184"/>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Java / JavaScript</a:t>
            </a:r>
            <a:endParaRPr lang="en-US" sz="1000" dirty="0"/>
          </a:p>
        </p:txBody>
      </p:sp>
      <p:sp>
        <p:nvSpPr>
          <p:cNvPr id="38" name="Shape 36"/>
          <p:cNvSpPr/>
          <p:nvPr/>
        </p:nvSpPr>
        <p:spPr>
          <a:xfrm>
            <a:off x="8915400" y="2167128"/>
            <a:ext cx="1828800" cy="219456"/>
          </a:xfrm>
          <a:prstGeom prst="rect">
            <a:avLst/>
          </a:prstGeom>
          <a:solidFill>
            <a:srgbClr val="173A5E"/>
          </a:solidFill>
          <a:ln/>
        </p:spPr>
      </p:sp>
      <p:sp>
        <p:nvSpPr>
          <p:cNvPr id="39" name="Text 37"/>
          <p:cNvSpPr txBox="1"/>
          <p:nvPr/>
        </p:nvSpPr>
        <p:spPr>
          <a:xfrm>
            <a:off x="10817352" y="2103120"/>
            <a:ext cx="457200" cy="329184"/>
          </a:xfrm>
          <a:prstGeom prst="rect">
            <a:avLst/>
          </a:prstGeom>
          <a:noFill/>
          <a:ln/>
        </p:spPr>
        <p:txBody>
          <a:bodyPr wrap="square" rtlCol="0" anchor="ctr"/>
          <a:lstStyle/>
          <a:p>
            <a:pPr indent="0" marL="0">
              <a:buNone/>
            </a:pPr>
            <a:r>
              <a:rPr lang="en-US" sz="1000" b="1" dirty="0">
                <a:solidFill>
                  <a:srgbClr val="1E2530"/>
                </a:solidFill>
                <a:latin typeface="Calibri" pitchFamily="34" charset="0"/>
                <a:ea typeface="Calibri" pitchFamily="34" charset="-122"/>
                <a:cs typeface="Calibri" pitchFamily="34" charset="-120"/>
              </a:rPr>
              <a:t>8</a:t>
            </a:r>
            <a:endParaRPr lang="en-US" sz="1000" dirty="0"/>
          </a:p>
        </p:txBody>
      </p:sp>
      <p:sp>
        <p:nvSpPr>
          <p:cNvPr id="40" name="Text 38"/>
          <p:cNvSpPr txBox="1"/>
          <p:nvPr/>
        </p:nvSpPr>
        <p:spPr>
          <a:xfrm>
            <a:off x="7086600" y="2505456"/>
            <a:ext cx="1737360" cy="329184"/>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VB / VB.NET / VBA</a:t>
            </a:r>
            <a:endParaRPr lang="en-US" sz="1000" dirty="0"/>
          </a:p>
        </p:txBody>
      </p:sp>
      <p:sp>
        <p:nvSpPr>
          <p:cNvPr id="41" name="Shape 39"/>
          <p:cNvSpPr/>
          <p:nvPr/>
        </p:nvSpPr>
        <p:spPr>
          <a:xfrm>
            <a:off x="8915400" y="2569464"/>
            <a:ext cx="685800" cy="219456"/>
          </a:xfrm>
          <a:prstGeom prst="rect">
            <a:avLst/>
          </a:prstGeom>
          <a:solidFill>
            <a:srgbClr val="173A5E"/>
          </a:solidFill>
          <a:ln/>
        </p:spPr>
      </p:sp>
      <p:sp>
        <p:nvSpPr>
          <p:cNvPr id="42" name="Text 40"/>
          <p:cNvSpPr txBox="1"/>
          <p:nvPr/>
        </p:nvSpPr>
        <p:spPr>
          <a:xfrm>
            <a:off x="9674352" y="2505456"/>
            <a:ext cx="457200" cy="329184"/>
          </a:xfrm>
          <a:prstGeom prst="rect">
            <a:avLst/>
          </a:prstGeom>
          <a:noFill/>
          <a:ln/>
        </p:spPr>
        <p:txBody>
          <a:bodyPr wrap="square" rtlCol="0" anchor="ctr"/>
          <a:lstStyle/>
          <a:p>
            <a:pPr indent="0" marL="0">
              <a:buNone/>
            </a:pPr>
            <a:r>
              <a:rPr lang="en-US" sz="1000" b="1" dirty="0">
                <a:solidFill>
                  <a:srgbClr val="1E2530"/>
                </a:solidFill>
                <a:latin typeface="Calibri" pitchFamily="34" charset="0"/>
                <a:ea typeface="Calibri" pitchFamily="34" charset="-122"/>
                <a:cs typeface="Calibri" pitchFamily="34" charset="-120"/>
              </a:rPr>
              <a:t>3</a:t>
            </a:r>
            <a:endParaRPr lang="en-US" sz="1000" dirty="0"/>
          </a:p>
        </p:txBody>
      </p:sp>
      <p:sp>
        <p:nvSpPr>
          <p:cNvPr id="43" name="Text 41"/>
          <p:cNvSpPr txBox="1"/>
          <p:nvPr/>
        </p:nvSpPr>
        <p:spPr>
          <a:xfrm>
            <a:off x="7086600" y="2907792"/>
            <a:ext cx="1737360" cy="329184"/>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Low-code SaaS (APEX)</a:t>
            </a:r>
            <a:endParaRPr lang="en-US" sz="1000" dirty="0"/>
          </a:p>
        </p:txBody>
      </p:sp>
      <p:sp>
        <p:nvSpPr>
          <p:cNvPr id="44" name="Shape 42"/>
          <p:cNvSpPr/>
          <p:nvPr/>
        </p:nvSpPr>
        <p:spPr>
          <a:xfrm>
            <a:off x="8915400" y="2971800"/>
            <a:ext cx="228600" cy="219456"/>
          </a:xfrm>
          <a:prstGeom prst="rect">
            <a:avLst/>
          </a:prstGeom>
          <a:solidFill>
            <a:srgbClr val="173A5E"/>
          </a:solidFill>
          <a:ln/>
        </p:spPr>
      </p:sp>
      <p:sp>
        <p:nvSpPr>
          <p:cNvPr id="45" name="Text 43"/>
          <p:cNvSpPr txBox="1"/>
          <p:nvPr/>
        </p:nvSpPr>
        <p:spPr>
          <a:xfrm>
            <a:off x="9217152" y="2907792"/>
            <a:ext cx="457200" cy="329184"/>
          </a:xfrm>
          <a:prstGeom prst="rect">
            <a:avLst/>
          </a:prstGeom>
          <a:noFill/>
          <a:ln/>
        </p:spPr>
        <p:txBody>
          <a:bodyPr wrap="square" rtlCol="0" anchor="ctr"/>
          <a:lstStyle/>
          <a:p>
            <a:pPr indent="0" marL="0">
              <a:buNone/>
            </a:pPr>
            <a:r>
              <a:rPr lang="en-US" sz="1000" b="1" dirty="0">
                <a:solidFill>
                  <a:srgbClr val="1E2530"/>
                </a:solidFill>
                <a:latin typeface="Calibri" pitchFamily="34" charset="0"/>
                <a:ea typeface="Calibri" pitchFamily="34" charset="-122"/>
                <a:cs typeface="Calibri" pitchFamily="34" charset="-120"/>
              </a:rPr>
              <a:t>1</a:t>
            </a:r>
            <a:endParaRPr lang="en-US" sz="1000" dirty="0"/>
          </a:p>
        </p:txBody>
      </p:sp>
      <p:sp>
        <p:nvSpPr>
          <p:cNvPr id="46" name="Text 44"/>
          <p:cNvSpPr txBox="1"/>
          <p:nvPr/>
        </p:nvSpPr>
        <p:spPr>
          <a:xfrm>
            <a:off x="7086600" y="3310128"/>
            <a:ext cx="1737360" cy="329184"/>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Unspecified</a:t>
            </a:r>
            <a:endParaRPr lang="en-US" sz="1000" dirty="0"/>
          </a:p>
        </p:txBody>
      </p:sp>
      <p:sp>
        <p:nvSpPr>
          <p:cNvPr id="47" name="Shape 45"/>
          <p:cNvSpPr/>
          <p:nvPr/>
        </p:nvSpPr>
        <p:spPr>
          <a:xfrm>
            <a:off x="8915400" y="3374136"/>
            <a:ext cx="228600" cy="219456"/>
          </a:xfrm>
          <a:prstGeom prst="rect">
            <a:avLst/>
          </a:prstGeom>
          <a:solidFill>
            <a:srgbClr val="173A5E"/>
          </a:solidFill>
          <a:ln/>
        </p:spPr>
      </p:sp>
      <p:sp>
        <p:nvSpPr>
          <p:cNvPr id="48" name="Text 46"/>
          <p:cNvSpPr txBox="1"/>
          <p:nvPr/>
        </p:nvSpPr>
        <p:spPr>
          <a:xfrm>
            <a:off x="9217152" y="3310128"/>
            <a:ext cx="457200" cy="329184"/>
          </a:xfrm>
          <a:prstGeom prst="rect">
            <a:avLst/>
          </a:prstGeom>
          <a:noFill/>
          <a:ln/>
        </p:spPr>
        <p:txBody>
          <a:bodyPr wrap="square" rtlCol="0" anchor="ctr"/>
          <a:lstStyle/>
          <a:p>
            <a:pPr indent="0" marL="0">
              <a:buNone/>
            </a:pPr>
            <a:r>
              <a:rPr lang="en-US" sz="1000" b="1" dirty="0">
                <a:solidFill>
                  <a:srgbClr val="1E2530"/>
                </a:solidFill>
                <a:latin typeface="Calibri" pitchFamily="34" charset="0"/>
                <a:ea typeface="Calibri" pitchFamily="34" charset="-122"/>
                <a:cs typeface="Calibri" pitchFamily="34" charset="-120"/>
              </a:rPr>
              <a:t>1</a:t>
            </a:r>
            <a:endParaRPr lang="en-US" sz="1000" dirty="0"/>
          </a:p>
        </p:txBody>
      </p:sp>
      <p:sp>
        <p:nvSpPr>
          <p:cNvPr id="49" name="Shape 47"/>
          <p:cNvSpPr/>
          <p:nvPr/>
        </p:nvSpPr>
        <p:spPr>
          <a:xfrm>
            <a:off x="7086600" y="3794760"/>
            <a:ext cx="4645152" cy="2331720"/>
          </a:xfrm>
          <a:prstGeom prst="roundRect">
            <a:avLst>
              <a:gd name="adj" fmla="val 3137"/>
            </a:avLst>
          </a:prstGeom>
          <a:solidFill>
            <a:srgbClr val="EAF6EF"/>
          </a:solidFill>
          <a:ln w="12700">
            <a:solidFill>
              <a:srgbClr val="CFE9DA"/>
            </a:solidFill>
            <a:prstDash val="solid"/>
          </a:ln>
        </p:spPr>
      </p:sp>
      <p:sp>
        <p:nvSpPr>
          <p:cNvPr id="50" name="Text 48"/>
          <p:cNvSpPr txBox="1"/>
          <p:nvPr/>
        </p:nvSpPr>
        <p:spPr>
          <a:xfrm>
            <a:off x="7287768" y="3959352"/>
            <a:ext cx="4242816" cy="292608"/>
          </a:xfrm>
          <a:prstGeom prst="rect">
            <a:avLst/>
          </a:prstGeom>
          <a:noFill/>
          <a:ln/>
        </p:spPr>
        <p:txBody>
          <a:bodyPr wrap="square" rtlCol="0" anchor="ctr"/>
          <a:lstStyle/>
          <a:p>
            <a:pPr indent="0" marL="0">
              <a:buNone/>
            </a:pPr>
            <a:r>
              <a:rPr lang="en-US" sz="1300" b="1" dirty="0">
                <a:solidFill>
                  <a:srgbClr val="1E6B44"/>
                </a:solidFill>
                <a:latin typeface="Calibri" pitchFamily="34" charset="0"/>
                <a:ea typeface="Calibri" pitchFamily="34" charset="-122"/>
                <a:cs typeface="Calibri" pitchFamily="34" charset="-120"/>
              </a:rPr>
              <a:t>Domain implications</a:t>
            </a:r>
            <a:endParaRPr lang="en-US" sz="1300" dirty="0"/>
          </a:p>
        </p:txBody>
      </p:sp>
      <p:sp>
        <p:nvSpPr>
          <p:cNvPr id="51" name="Text 49"/>
          <p:cNvSpPr txBox="1"/>
          <p:nvPr/>
        </p:nvSpPr>
        <p:spPr>
          <a:xfrm>
            <a:off x="7287768" y="4297680"/>
            <a:ext cx="4242816" cy="1645920"/>
          </a:xfrm>
          <a:prstGeom prst="rect">
            <a:avLst/>
          </a:prstGeom>
          <a:noFill/>
          <a:ln/>
        </p:spPr>
        <p:txBody>
          <a:bodyPr wrap="square" rtlCol="0" anchor="t"/>
          <a:lstStyle/>
          <a:p>
            <a:pPr marL="152400" indent="-152400">
              <a:lnSpc>
                <a:spcPct val="110000"/>
              </a:lnSpc>
              <a:spcAft>
                <a:spcPts val="800"/>
              </a:spcAft>
              <a:buSzPct val="100000"/>
              <a:buChar char="•"/>
            </a:pPr>
            <a:r>
              <a:rPr lang="en-US" sz="1000" dirty="0">
                <a:solidFill>
                  <a:srgbClr val="394150"/>
                </a:solidFill>
                <a:latin typeface="Calibri" pitchFamily="34" charset="0"/>
                <a:ea typeface="Calibri" pitchFamily="34" charset="-122"/>
                <a:cs typeface="Calibri" pitchFamily="34" charset="-120"/>
              </a:rPr>
              <a:t>GSSP and BANCA alone carry 81% of the domain's AD-scope workforce (199.1 of 246.0 role-equivalent people) — pod sequencing should start here.</a:t>
            </a:r>
            <a:endParaRPr lang="en-US" sz="1000" dirty="0"/>
          </a:p>
          <a:p>
            <a:pPr marL="152400" indent="-152400">
              <a:lnSpc>
                <a:spcPct val="110000"/>
              </a:lnSpc>
              <a:spcAft>
                <a:spcPts val="800"/>
              </a:spcAft>
              <a:buSzPct val="100000"/>
              <a:buChar char="•"/>
            </a:pPr>
            <a:r>
              <a:rPr lang="en-US" sz="1000" dirty="0">
                <a:solidFill>
                  <a:srgbClr val="394150"/>
                </a:solidFill>
                <a:latin typeface="Calibri" pitchFamily="34" charset="0"/>
                <a:ea typeface="Calibri" pitchFamily="34" charset="-122"/>
                <a:cs typeface="Calibri" pitchFamily="34" charset="-120"/>
              </a:rPr>
              <a:t>The top six staffed applications represent ~97% of the current baseline; the remaining seven apps carry under 3% combined.</a:t>
            </a:r>
            <a:endParaRPr lang="en-US" sz="1000" dirty="0"/>
          </a:p>
          <a:p>
            <a:pPr marL="152400" indent="-152400">
              <a:lnSpc>
                <a:spcPct val="110000"/>
              </a:lnSpc>
              <a:spcAft>
                <a:spcPts val="800"/>
              </a:spcAft>
              <a:buSzPct val="100000"/>
              <a:buChar char="•"/>
            </a:pPr>
            <a:r>
              <a:rPr lang="en-US" sz="1000" dirty="0">
                <a:solidFill>
                  <a:srgbClr val="394150"/>
                </a:solidFill>
                <a:latin typeface="Calibri" pitchFamily="34" charset="0"/>
                <a:ea typeface="Calibri" pitchFamily="34" charset="-122"/>
                <a:cs typeface="Calibri" pitchFamily="34" charset="-120"/>
              </a:rPr>
              <a:t>9 of 13 apps are already cloud-enabled (PaaS/SaaS) — this domain starts materially closer to the target operating model than a mainframe-led estate.</a:t>
            </a:r>
            <a:endParaRPr lang="en-US" sz="1000" dirty="0"/>
          </a:p>
        </p:txBody>
      </p:sp>
      <p:sp>
        <p:nvSpPr>
          <p:cNvPr id="52" name="Text 50"/>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53" name="Text 51"/>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54" name="Text 52"/>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Current portfolio: FTE baseline across all 13 sales / recruitment applications</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Total represents Current FTC + Current FTE + Current MGCC.</a:t>
            </a:r>
            <a:endParaRPr lang="en-US" sz="1100" dirty="0"/>
          </a:p>
        </p:txBody>
      </p:sp>
      <p:sp>
        <p:nvSpPr>
          <p:cNvPr id="5" name="Shape 3"/>
          <p:cNvSpPr/>
          <p:nvPr/>
        </p:nvSpPr>
        <p:spPr>
          <a:xfrm>
            <a:off x="457200" y="1234440"/>
            <a:ext cx="5394960" cy="365760"/>
          </a:xfrm>
          <a:prstGeom prst="rect">
            <a:avLst/>
          </a:prstGeom>
          <a:solidFill>
            <a:srgbClr val="173A5E"/>
          </a:solidFill>
          <a:ln/>
        </p:spPr>
      </p:sp>
      <p:sp>
        <p:nvSpPr>
          <p:cNvPr id="6" name="Text 4"/>
          <p:cNvSpPr txBox="1"/>
          <p:nvPr/>
        </p:nvSpPr>
        <p:spPr>
          <a:xfrm>
            <a:off x="594360" y="1234440"/>
            <a:ext cx="402336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7" name="Text 5"/>
          <p:cNvSpPr txBox="1"/>
          <p:nvPr/>
        </p:nvSpPr>
        <p:spPr>
          <a:xfrm>
            <a:off x="4617720" y="1234440"/>
            <a:ext cx="109728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8" name="Text 6"/>
          <p:cNvSpPr txBox="1"/>
          <p:nvPr/>
        </p:nvSpPr>
        <p:spPr>
          <a:xfrm>
            <a:off x="594360" y="1600200"/>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JP-GSSP</a:t>
            </a:r>
            <a:endParaRPr lang="en-US" sz="1050" dirty="0"/>
          </a:p>
        </p:txBody>
      </p:sp>
      <p:sp>
        <p:nvSpPr>
          <p:cNvPr id="9" name="Text 7"/>
          <p:cNvSpPr txBox="1"/>
          <p:nvPr/>
        </p:nvSpPr>
        <p:spPr>
          <a:xfrm>
            <a:off x="4617720" y="1600200"/>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229.913</a:t>
            </a:r>
            <a:endParaRPr lang="en-US" sz="1100" dirty="0"/>
          </a:p>
        </p:txBody>
      </p:sp>
      <p:sp>
        <p:nvSpPr>
          <p:cNvPr id="10" name="Shape 8"/>
          <p:cNvSpPr/>
          <p:nvPr/>
        </p:nvSpPr>
        <p:spPr>
          <a:xfrm>
            <a:off x="457200" y="2112264"/>
            <a:ext cx="5394960" cy="512064"/>
          </a:xfrm>
          <a:prstGeom prst="rect">
            <a:avLst/>
          </a:prstGeom>
          <a:solidFill>
            <a:srgbClr val="F3F7FA"/>
          </a:solidFill>
          <a:ln/>
        </p:spPr>
      </p:sp>
      <p:sp>
        <p:nvSpPr>
          <p:cNvPr id="11" name="Text 9"/>
          <p:cNvSpPr txBox="1"/>
          <p:nvPr/>
        </p:nvSpPr>
        <p:spPr>
          <a:xfrm>
            <a:off x="594360" y="2112264"/>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JP-BANCA</a:t>
            </a:r>
            <a:endParaRPr lang="en-US" sz="1050" dirty="0"/>
          </a:p>
        </p:txBody>
      </p:sp>
      <p:sp>
        <p:nvSpPr>
          <p:cNvPr id="12" name="Text 10"/>
          <p:cNvSpPr txBox="1"/>
          <p:nvPr/>
        </p:nvSpPr>
        <p:spPr>
          <a:xfrm>
            <a:off x="4617720" y="2112264"/>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110.000</a:t>
            </a:r>
            <a:endParaRPr lang="en-US" sz="1100" dirty="0"/>
          </a:p>
        </p:txBody>
      </p:sp>
      <p:sp>
        <p:nvSpPr>
          <p:cNvPr id="13" name="Text 11"/>
          <p:cNvSpPr txBox="1"/>
          <p:nvPr/>
        </p:nvSpPr>
        <p:spPr>
          <a:xfrm>
            <a:off x="594360" y="2624328"/>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WPSCFC-JPN</a:t>
            </a:r>
            <a:endParaRPr lang="en-US" sz="1050" dirty="0"/>
          </a:p>
        </p:txBody>
      </p:sp>
      <p:sp>
        <p:nvSpPr>
          <p:cNvPr id="14" name="Text 12"/>
          <p:cNvSpPr txBox="1"/>
          <p:nvPr/>
        </p:nvSpPr>
        <p:spPr>
          <a:xfrm>
            <a:off x="4617720" y="2624328"/>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43.562</a:t>
            </a:r>
            <a:endParaRPr lang="en-US" sz="1100" dirty="0"/>
          </a:p>
        </p:txBody>
      </p:sp>
      <p:sp>
        <p:nvSpPr>
          <p:cNvPr id="15" name="Shape 13"/>
          <p:cNvSpPr/>
          <p:nvPr/>
        </p:nvSpPr>
        <p:spPr>
          <a:xfrm>
            <a:off x="457200" y="3136392"/>
            <a:ext cx="5394960" cy="512064"/>
          </a:xfrm>
          <a:prstGeom prst="rect">
            <a:avLst/>
          </a:prstGeom>
          <a:solidFill>
            <a:srgbClr val="F3F7FA"/>
          </a:solidFill>
          <a:ln/>
        </p:spPr>
      </p:sp>
      <p:sp>
        <p:nvSpPr>
          <p:cNvPr id="16" name="Text 14"/>
          <p:cNvSpPr txBox="1"/>
          <p:nvPr/>
        </p:nvSpPr>
        <p:spPr>
          <a:xfrm>
            <a:off x="594360" y="3136392"/>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P02BKE-JPN</a:t>
            </a:r>
            <a:endParaRPr lang="en-US" sz="1050" dirty="0"/>
          </a:p>
        </p:txBody>
      </p:sp>
      <p:sp>
        <p:nvSpPr>
          <p:cNvPr id="17" name="Text 15"/>
          <p:cNvSpPr txBox="1"/>
          <p:nvPr/>
        </p:nvSpPr>
        <p:spPr>
          <a:xfrm>
            <a:off x="4617720" y="3136392"/>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15.275</a:t>
            </a:r>
            <a:endParaRPr lang="en-US" sz="1100" dirty="0"/>
          </a:p>
        </p:txBody>
      </p:sp>
      <p:sp>
        <p:nvSpPr>
          <p:cNvPr id="18" name="Text 16"/>
          <p:cNvSpPr txBox="1"/>
          <p:nvPr/>
        </p:nvSpPr>
        <p:spPr>
          <a:xfrm>
            <a:off x="594360" y="3648456"/>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JP-Banca Report</a:t>
            </a:r>
            <a:endParaRPr lang="en-US" sz="1050" dirty="0"/>
          </a:p>
        </p:txBody>
      </p:sp>
      <p:sp>
        <p:nvSpPr>
          <p:cNvPr id="19" name="Text 17"/>
          <p:cNvSpPr txBox="1"/>
          <p:nvPr/>
        </p:nvSpPr>
        <p:spPr>
          <a:xfrm>
            <a:off x="4617720" y="3648456"/>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15.000</a:t>
            </a:r>
            <a:endParaRPr lang="en-US" sz="1100" dirty="0"/>
          </a:p>
        </p:txBody>
      </p:sp>
      <p:sp>
        <p:nvSpPr>
          <p:cNvPr id="20" name="Shape 18"/>
          <p:cNvSpPr/>
          <p:nvPr/>
        </p:nvSpPr>
        <p:spPr>
          <a:xfrm>
            <a:off x="457200" y="4160520"/>
            <a:ext cx="5394960" cy="512064"/>
          </a:xfrm>
          <a:prstGeom prst="rect">
            <a:avLst/>
          </a:prstGeom>
          <a:solidFill>
            <a:srgbClr val="F3F7FA"/>
          </a:solidFill>
          <a:ln/>
        </p:spPr>
      </p:sp>
      <p:sp>
        <p:nvSpPr>
          <p:cNvPr id="21" name="Text 19"/>
          <p:cNvSpPr txBox="1"/>
          <p:nvPr/>
        </p:nvSpPr>
        <p:spPr>
          <a:xfrm>
            <a:off x="594360" y="4160520"/>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JP - Remote Closing</a:t>
            </a:r>
            <a:endParaRPr lang="en-US" sz="1050" dirty="0"/>
          </a:p>
        </p:txBody>
      </p:sp>
      <p:sp>
        <p:nvSpPr>
          <p:cNvPr id="22" name="Text 20"/>
          <p:cNvSpPr txBox="1"/>
          <p:nvPr/>
        </p:nvSpPr>
        <p:spPr>
          <a:xfrm>
            <a:off x="4617720" y="4160520"/>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12.208</a:t>
            </a:r>
            <a:endParaRPr lang="en-US" sz="1100" dirty="0"/>
          </a:p>
        </p:txBody>
      </p:sp>
      <p:sp>
        <p:nvSpPr>
          <p:cNvPr id="23" name="Text 21"/>
          <p:cNvSpPr txBox="1"/>
          <p:nvPr/>
        </p:nvSpPr>
        <p:spPr>
          <a:xfrm>
            <a:off x="594360" y="4672584"/>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WAAATF-JPN</a:t>
            </a:r>
            <a:endParaRPr lang="en-US" sz="1050" dirty="0"/>
          </a:p>
        </p:txBody>
      </p:sp>
      <p:sp>
        <p:nvSpPr>
          <p:cNvPr id="24" name="Text 22"/>
          <p:cNvSpPr txBox="1"/>
          <p:nvPr/>
        </p:nvSpPr>
        <p:spPr>
          <a:xfrm>
            <a:off x="4617720" y="4672584"/>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7.262</a:t>
            </a:r>
            <a:endParaRPr lang="en-US" sz="1100" dirty="0"/>
          </a:p>
        </p:txBody>
      </p:sp>
      <p:sp>
        <p:nvSpPr>
          <p:cNvPr id="25" name="Shape 23"/>
          <p:cNvSpPr/>
          <p:nvPr/>
        </p:nvSpPr>
        <p:spPr>
          <a:xfrm>
            <a:off x="6309360" y="1234440"/>
            <a:ext cx="5394960" cy="365760"/>
          </a:xfrm>
          <a:prstGeom prst="rect">
            <a:avLst/>
          </a:prstGeom>
          <a:solidFill>
            <a:srgbClr val="173A5E"/>
          </a:solidFill>
          <a:ln/>
        </p:spPr>
      </p:sp>
      <p:sp>
        <p:nvSpPr>
          <p:cNvPr id="26" name="Text 24"/>
          <p:cNvSpPr txBox="1"/>
          <p:nvPr/>
        </p:nvSpPr>
        <p:spPr>
          <a:xfrm>
            <a:off x="6446520" y="1234440"/>
            <a:ext cx="402336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27" name="Text 25"/>
          <p:cNvSpPr txBox="1"/>
          <p:nvPr/>
        </p:nvSpPr>
        <p:spPr>
          <a:xfrm>
            <a:off x="10469880" y="1234440"/>
            <a:ext cx="109728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28" name="Text 26"/>
          <p:cNvSpPr txBox="1"/>
          <p:nvPr/>
        </p:nvSpPr>
        <p:spPr>
          <a:xfrm>
            <a:off x="6446520" y="1600200"/>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W08NAV-JPN</a:t>
            </a:r>
            <a:endParaRPr lang="en-US" sz="1050" dirty="0"/>
          </a:p>
        </p:txBody>
      </p:sp>
      <p:sp>
        <p:nvSpPr>
          <p:cNvPr id="29" name="Text 27"/>
          <p:cNvSpPr txBox="1"/>
          <p:nvPr/>
        </p:nvSpPr>
        <p:spPr>
          <a:xfrm>
            <a:off x="10469880" y="1600200"/>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3.194</a:t>
            </a:r>
            <a:endParaRPr lang="en-US" sz="1100" dirty="0"/>
          </a:p>
        </p:txBody>
      </p:sp>
      <p:sp>
        <p:nvSpPr>
          <p:cNvPr id="30" name="Shape 28"/>
          <p:cNvSpPr/>
          <p:nvPr/>
        </p:nvSpPr>
        <p:spPr>
          <a:xfrm>
            <a:off x="6309360" y="2112264"/>
            <a:ext cx="5394960" cy="512064"/>
          </a:xfrm>
          <a:prstGeom prst="rect">
            <a:avLst/>
          </a:prstGeom>
          <a:solidFill>
            <a:srgbClr val="F3F7FA"/>
          </a:solidFill>
          <a:ln/>
        </p:spPr>
      </p:sp>
      <p:sp>
        <p:nvSpPr>
          <p:cNvPr id="31" name="Text 29"/>
          <p:cNvSpPr txBox="1"/>
          <p:nvPr/>
        </p:nvSpPr>
        <p:spPr>
          <a:xfrm>
            <a:off x="6446520" y="2112264"/>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W09WSD-JPN BIS</a:t>
            </a:r>
            <a:endParaRPr lang="en-US" sz="1050" dirty="0"/>
          </a:p>
        </p:txBody>
      </p:sp>
      <p:sp>
        <p:nvSpPr>
          <p:cNvPr id="32" name="Text 30"/>
          <p:cNvSpPr txBox="1"/>
          <p:nvPr/>
        </p:nvSpPr>
        <p:spPr>
          <a:xfrm>
            <a:off x="10469880" y="2112264"/>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0.883</a:t>
            </a:r>
            <a:endParaRPr lang="en-US" sz="1100" dirty="0"/>
          </a:p>
        </p:txBody>
      </p:sp>
      <p:sp>
        <p:nvSpPr>
          <p:cNvPr id="33" name="Text 31"/>
          <p:cNvSpPr txBox="1"/>
          <p:nvPr/>
        </p:nvSpPr>
        <p:spPr>
          <a:xfrm>
            <a:off x="6446520" y="2624328"/>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Distribution Systems - Internal</a:t>
            </a:r>
            <a:endParaRPr lang="en-US" sz="1050" dirty="0"/>
          </a:p>
        </p:txBody>
      </p:sp>
      <p:sp>
        <p:nvSpPr>
          <p:cNvPr id="34" name="Text 32"/>
          <p:cNvSpPr txBox="1"/>
          <p:nvPr/>
        </p:nvSpPr>
        <p:spPr>
          <a:xfrm>
            <a:off x="10469880" y="2624328"/>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0.667</a:t>
            </a:r>
            <a:endParaRPr lang="en-US" sz="1100" dirty="0"/>
          </a:p>
        </p:txBody>
      </p:sp>
      <p:sp>
        <p:nvSpPr>
          <p:cNvPr id="35" name="Shape 33"/>
          <p:cNvSpPr/>
          <p:nvPr/>
        </p:nvSpPr>
        <p:spPr>
          <a:xfrm>
            <a:off x="6309360" y="3136392"/>
            <a:ext cx="5394960" cy="512064"/>
          </a:xfrm>
          <a:prstGeom prst="rect">
            <a:avLst/>
          </a:prstGeom>
          <a:solidFill>
            <a:srgbClr val="F3F7FA"/>
          </a:solidFill>
          <a:ln/>
        </p:spPr>
      </p:sp>
      <p:sp>
        <p:nvSpPr>
          <p:cNvPr id="36" name="Text 34"/>
          <p:cNvSpPr txBox="1"/>
          <p:nvPr/>
        </p:nvSpPr>
        <p:spPr>
          <a:xfrm>
            <a:off x="6446520" y="3136392"/>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WGLRPC-JPN</a:t>
            </a:r>
            <a:endParaRPr lang="en-US" sz="1050" dirty="0"/>
          </a:p>
        </p:txBody>
      </p:sp>
      <p:sp>
        <p:nvSpPr>
          <p:cNvPr id="37" name="Text 35"/>
          <p:cNvSpPr txBox="1"/>
          <p:nvPr/>
        </p:nvSpPr>
        <p:spPr>
          <a:xfrm>
            <a:off x="10469880" y="3136392"/>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0.458</a:t>
            </a:r>
            <a:endParaRPr lang="en-US" sz="1100" dirty="0"/>
          </a:p>
        </p:txBody>
      </p:sp>
      <p:sp>
        <p:nvSpPr>
          <p:cNvPr id="38" name="Text 36"/>
          <p:cNvSpPr txBox="1"/>
          <p:nvPr/>
        </p:nvSpPr>
        <p:spPr>
          <a:xfrm>
            <a:off x="6446520" y="3648456"/>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IVR Tekigosei</a:t>
            </a:r>
            <a:endParaRPr lang="en-US" sz="1050" dirty="0"/>
          </a:p>
        </p:txBody>
      </p:sp>
      <p:sp>
        <p:nvSpPr>
          <p:cNvPr id="39" name="Text 37"/>
          <p:cNvSpPr txBox="1"/>
          <p:nvPr/>
        </p:nvSpPr>
        <p:spPr>
          <a:xfrm>
            <a:off x="10469880" y="3648456"/>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0.167</a:t>
            </a:r>
            <a:endParaRPr lang="en-US" sz="1100" dirty="0"/>
          </a:p>
        </p:txBody>
      </p:sp>
      <p:sp>
        <p:nvSpPr>
          <p:cNvPr id="40" name="Shape 38"/>
          <p:cNvSpPr/>
          <p:nvPr/>
        </p:nvSpPr>
        <p:spPr>
          <a:xfrm>
            <a:off x="6309360" y="4160520"/>
            <a:ext cx="5394960" cy="512064"/>
          </a:xfrm>
          <a:prstGeom prst="rect">
            <a:avLst/>
          </a:prstGeom>
          <a:solidFill>
            <a:srgbClr val="F3F7FA"/>
          </a:solidFill>
          <a:ln/>
        </p:spPr>
      </p:sp>
      <p:sp>
        <p:nvSpPr>
          <p:cNvPr id="41" name="Text 39"/>
          <p:cNvSpPr txBox="1"/>
          <p:nvPr/>
        </p:nvSpPr>
        <p:spPr>
          <a:xfrm>
            <a:off x="6446520" y="4160520"/>
            <a:ext cx="4023360" cy="512064"/>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WCC</a:t>
            </a:r>
            <a:endParaRPr lang="en-US" sz="1050" dirty="0"/>
          </a:p>
        </p:txBody>
      </p:sp>
      <p:sp>
        <p:nvSpPr>
          <p:cNvPr id="42" name="Text 40"/>
          <p:cNvSpPr txBox="1"/>
          <p:nvPr/>
        </p:nvSpPr>
        <p:spPr>
          <a:xfrm>
            <a:off x="10469880" y="4160520"/>
            <a:ext cx="1097280" cy="512064"/>
          </a:xfrm>
          <a:prstGeom prst="rect">
            <a:avLst/>
          </a:prstGeom>
          <a:noFill/>
          <a:ln/>
        </p:spPr>
        <p:txBody>
          <a:bodyPr wrap="square" rtlCol="0" anchor="ctr"/>
          <a:lstStyle/>
          <a:p>
            <a:pPr algn="r" indent="0" marL="0">
              <a:buNone/>
            </a:pPr>
            <a:r>
              <a:rPr lang="en-US" sz="1100" b="1" dirty="0">
                <a:solidFill>
                  <a:srgbClr val="173A5E"/>
                </a:solidFill>
                <a:latin typeface="Calibri" pitchFamily="34" charset="0"/>
                <a:ea typeface="Calibri" pitchFamily="34" charset="-122"/>
                <a:cs typeface="Calibri" pitchFamily="34" charset="-120"/>
              </a:rPr>
              <a:t>0.125</a:t>
            </a:r>
            <a:endParaRPr lang="en-US" sz="1100" dirty="0"/>
          </a:p>
        </p:txBody>
      </p:sp>
      <p:sp>
        <p:nvSpPr>
          <p:cNvPr id="43" name="Text 41"/>
          <p:cNvSpPr txBox="1"/>
          <p:nvPr/>
        </p:nvSpPr>
        <p:spPr>
          <a:xfrm>
            <a:off x="7498080" y="6126480"/>
            <a:ext cx="640080" cy="274320"/>
          </a:xfrm>
          <a:prstGeom prst="rect">
            <a:avLst/>
          </a:prstGeom>
          <a:noFill/>
          <a:ln/>
        </p:spPr>
        <p:txBody>
          <a:bodyPr wrap="square" rtlCol="0" anchor="ctr"/>
          <a:lstStyle/>
          <a:p>
            <a:pPr indent="0" marL="0">
              <a:buNone/>
            </a:pPr>
            <a:r>
              <a:rPr lang="en-US" sz="1000" b="1" dirty="0">
                <a:solidFill>
                  <a:srgbClr val="394150"/>
                </a:solidFill>
                <a:latin typeface="Calibri" pitchFamily="34" charset="0"/>
                <a:ea typeface="Calibri" pitchFamily="34" charset="-122"/>
                <a:cs typeface="Calibri" pitchFamily="34" charset="-120"/>
              </a:rPr>
              <a:t>Legend:</a:t>
            </a:r>
            <a:endParaRPr lang="en-US" sz="1000" dirty="0"/>
          </a:p>
        </p:txBody>
      </p:sp>
      <p:sp>
        <p:nvSpPr>
          <p:cNvPr id="44" name="Shape 42"/>
          <p:cNvSpPr/>
          <p:nvPr/>
        </p:nvSpPr>
        <p:spPr>
          <a:xfrm>
            <a:off x="8092440" y="6099048"/>
            <a:ext cx="1417320" cy="292608"/>
          </a:xfrm>
          <a:prstGeom prst="roundRect">
            <a:avLst>
              <a:gd name="adj" fmla="val 15625"/>
            </a:avLst>
          </a:prstGeom>
          <a:solidFill>
            <a:srgbClr val="173A5E"/>
          </a:solidFill>
          <a:ln/>
        </p:spPr>
      </p:sp>
      <p:sp>
        <p:nvSpPr>
          <p:cNvPr id="45" name="Text 43"/>
          <p:cNvSpPr txBox="1"/>
          <p:nvPr/>
        </p:nvSpPr>
        <p:spPr>
          <a:xfrm>
            <a:off x="8092440" y="6099048"/>
            <a:ext cx="14173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Cloud-enabled (9)</a:t>
            </a:r>
            <a:endParaRPr lang="en-US" sz="900" dirty="0"/>
          </a:p>
        </p:txBody>
      </p:sp>
      <p:sp>
        <p:nvSpPr>
          <p:cNvPr id="46" name="Shape 44"/>
          <p:cNvSpPr/>
          <p:nvPr/>
        </p:nvSpPr>
        <p:spPr>
          <a:xfrm>
            <a:off x="9601200" y="6099048"/>
            <a:ext cx="1463040" cy="292608"/>
          </a:xfrm>
          <a:prstGeom prst="roundRect">
            <a:avLst>
              <a:gd name="adj" fmla="val 15625"/>
            </a:avLst>
          </a:prstGeom>
          <a:solidFill>
            <a:srgbClr val="9AA5B4"/>
          </a:solidFill>
          <a:ln/>
        </p:spPr>
      </p:sp>
      <p:sp>
        <p:nvSpPr>
          <p:cNvPr id="47" name="Text 45"/>
          <p:cNvSpPr txBox="1"/>
          <p:nvPr/>
        </p:nvSpPr>
        <p:spPr>
          <a:xfrm>
            <a:off x="9601200" y="6099048"/>
            <a:ext cx="14630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On-premises (4)</a:t>
            </a:r>
            <a:endParaRPr lang="en-US" sz="900" dirty="0"/>
          </a:p>
        </p:txBody>
      </p:sp>
      <p:sp>
        <p:nvSpPr>
          <p:cNvPr id="48" name="Text 46"/>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49" name="Text 47"/>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50" name="Text 48"/>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Day-1 team: five business-aligned pods with shared engineering and governance</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Pods are sized to Current + Target capacity (FTC+FTE/MGCC) per application-profile cluster; detailed 8-10 person delivery pods follow on slides 8-9.</a:t>
            </a:r>
            <a:endParaRPr lang="en-US" sz="1100" dirty="0"/>
          </a:p>
        </p:txBody>
      </p:sp>
      <p:sp>
        <p:nvSpPr>
          <p:cNvPr id="5" name="Shape 3"/>
          <p:cNvSpPr/>
          <p:nvPr/>
        </p:nvSpPr>
        <p:spPr>
          <a:xfrm>
            <a:off x="457200" y="1234440"/>
            <a:ext cx="11274552" cy="457200"/>
          </a:xfrm>
          <a:prstGeom prst="rect">
            <a:avLst/>
          </a:prstGeom>
          <a:solidFill>
            <a:srgbClr val="1E2530"/>
          </a:solidFill>
          <a:ln/>
        </p:spPr>
      </p:sp>
      <p:sp>
        <p:nvSpPr>
          <p:cNvPr id="6" name="Text 4"/>
          <p:cNvSpPr txBox="1"/>
          <p:nvPr/>
        </p:nvSpPr>
        <p:spPr>
          <a:xfrm>
            <a:off x="502920" y="1234440"/>
            <a:ext cx="2163470"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Executive Sponsor</a:t>
            </a:r>
            <a:endParaRPr lang="en-US" sz="1050" dirty="0"/>
          </a:p>
        </p:txBody>
      </p:sp>
      <p:sp>
        <p:nvSpPr>
          <p:cNvPr id="7" name="Shape 5"/>
          <p:cNvSpPr/>
          <p:nvPr/>
        </p:nvSpPr>
        <p:spPr>
          <a:xfrm>
            <a:off x="2712110" y="1307592"/>
            <a:ext cx="0" cy="310896"/>
          </a:xfrm>
          <a:prstGeom prst="line">
            <a:avLst/>
          </a:prstGeom>
          <a:noFill/>
          <a:ln w="9525">
            <a:solidFill>
              <a:srgbClr val="3A4658"/>
            </a:solidFill>
            <a:prstDash val="solid"/>
          </a:ln>
        </p:spPr>
      </p:sp>
      <p:sp>
        <p:nvSpPr>
          <p:cNvPr id="8" name="Text 6"/>
          <p:cNvSpPr txBox="1"/>
          <p:nvPr/>
        </p:nvSpPr>
        <p:spPr>
          <a:xfrm>
            <a:off x="2757830" y="1234440"/>
            <a:ext cx="2163470"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Domain Delivery Lead</a:t>
            </a:r>
            <a:endParaRPr lang="en-US" sz="1050" dirty="0"/>
          </a:p>
        </p:txBody>
      </p:sp>
      <p:sp>
        <p:nvSpPr>
          <p:cNvPr id="9" name="Shape 7"/>
          <p:cNvSpPr/>
          <p:nvPr/>
        </p:nvSpPr>
        <p:spPr>
          <a:xfrm>
            <a:off x="4967021" y="1307592"/>
            <a:ext cx="0" cy="310896"/>
          </a:xfrm>
          <a:prstGeom prst="line">
            <a:avLst/>
          </a:prstGeom>
          <a:noFill/>
          <a:ln w="9525">
            <a:solidFill>
              <a:srgbClr val="3A4658"/>
            </a:solidFill>
            <a:prstDash val="solid"/>
          </a:ln>
        </p:spPr>
      </p:sp>
      <p:sp>
        <p:nvSpPr>
          <p:cNvPr id="10" name="Text 8"/>
          <p:cNvSpPr txBox="1"/>
          <p:nvPr/>
        </p:nvSpPr>
        <p:spPr>
          <a:xfrm>
            <a:off x="5012741" y="1234440"/>
            <a:ext cx="2163470"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MetLife Domain Owner</a:t>
            </a:r>
            <a:endParaRPr lang="en-US" sz="1050" dirty="0"/>
          </a:p>
        </p:txBody>
      </p:sp>
      <p:sp>
        <p:nvSpPr>
          <p:cNvPr id="11" name="Shape 9"/>
          <p:cNvSpPr/>
          <p:nvPr/>
        </p:nvSpPr>
        <p:spPr>
          <a:xfrm>
            <a:off x="7221931" y="1307592"/>
            <a:ext cx="0" cy="310896"/>
          </a:xfrm>
          <a:prstGeom prst="line">
            <a:avLst/>
          </a:prstGeom>
          <a:noFill/>
          <a:ln w="9525">
            <a:solidFill>
              <a:srgbClr val="3A4658"/>
            </a:solidFill>
            <a:prstDash val="solid"/>
          </a:ln>
        </p:spPr>
      </p:sp>
      <p:sp>
        <p:nvSpPr>
          <p:cNvPr id="12" name="Text 10"/>
          <p:cNvSpPr txBox="1"/>
          <p:nvPr/>
        </p:nvSpPr>
        <p:spPr>
          <a:xfrm>
            <a:off x="7267651" y="1234440"/>
            <a:ext cx="2163470"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Service Delivery Manager</a:t>
            </a:r>
            <a:endParaRPr lang="en-US" sz="1050" dirty="0"/>
          </a:p>
        </p:txBody>
      </p:sp>
      <p:sp>
        <p:nvSpPr>
          <p:cNvPr id="13" name="Shape 11"/>
          <p:cNvSpPr/>
          <p:nvPr/>
        </p:nvSpPr>
        <p:spPr>
          <a:xfrm>
            <a:off x="9476842" y="1307592"/>
            <a:ext cx="0" cy="310896"/>
          </a:xfrm>
          <a:prstGeom prst="line">
            <a:avLst/>
          </a:prstGeom>
          <a:noFill/>
          <a:ln w="9525">
            <a:solidFill>
              <a:srgbClr val="3A4658"/>
            </a:solidFill>
            <a:prstDash val="solid"/>
          </a:ln>
        </p:spPr>
      </p:sp>
      <p:sp>
        <p:nvSpPr>
          <p:cNvPr id="14" name="Text 12"/>
          <p:cNvSpPr txBox="1"/>
          <p:nvPr/>
        </p:nvSpPr>
        <p:spPr>
          <a:xfrm>
            <a:off x="9522562" y="1234440"/>
            <a:ext cx="2163470" cy="45720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Transformation Lead</a:t>
            </a:r>
            <a:endParaRPr lang="en-US" sz="1050" dirty="0"/>
          </a:p>
        </p:txBody>
      </p:sp>
      <p:sp>
        <p:nvSpPr>
          <p:cNvPr id="15" name="Shape 13"/>
          <p:cNvSpPr/>
          <p:nvPr/>
        </p:nvSpPr>
        <p:spPr>
          <a:xfrm>
            <a:off x="457200" y="1965960"/>
            <a:ext cx="2148840" cy="457200"/>
          </a:xfrm>
          <a:prstGeom prst="rect">
            <a:avLst/>
          </a:prstGeom>
          <a:solidFill>
            <a:srgbClr val="173A5E"/>
          </a:solidFill>
          <a:ln/>
        </p:spPr>
      </p:sp>
      <p:sp>
        <p:nvSpPr>
          <p:cNvPr id="16" name="Text 14"/>
          <p:cNvSpPr txBox="1"/>
          <p:nvPr/>
        </p:nvSpPr>
        <p:spPr>
          <a:xfrm>
            <a:off x="530352" y="1965960"/>
            <a:ext cx="2002536"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Pod 1 | 229.9 (52.4%)</a:t>
            </a:r>
            <a:endParaRPr lang="en-US" sz="1000" dirty="0"/>
          </a:p>
        </p:txBody>
      </p:sp>
      <p:sp>
        <p:nvSpPr>
          <p:cNvPr id="17" name="Shape 15"/>
          <p:cNvSpPr/>
          <p:nvPr/>
        </p:nvSpPr>
        <p:spPr>
          <a:xfrm>
            <a:off x="457200" y="2423160"/>
            <a:ext cx="2148840" cy="2468880"/>
          </a:xfrm>
          <a:prstGeom prst="rect">
            <a:avLst/>
          </a:prstGeom>
          <a:solidFill>
            <a:srgbClr val="F5F6F8"/>
          </a:solidFill>
          <a:ln w="12700">
            <a:solidFill>
              <a:srgbClr val="E1E6ED"/>
            </a:solidFill>
            <a:prstDash val="solid"/>
          </a:ln>
        </p:spPr>
      </p:sp>
      <p:sp>
        <p:nvSpPr>
          <p:cNvPr id="18" name="Text 16"/>
          <p:cNvSpPr txBox="1"/>
          <p:nvPr/>
        </p:nvSpPr>
        <p:spPr>
          <a:xfrm>
            <a:off x="585216" y="2569464"/>
            <a:ext cx="1892808" cy="685800"/>
          </a:xfrm>
          <a:prstGeom prst="rect">
            <a:avLst/>
          </a:prstGeom>
          <a:noFill/>
          <a:ln/>
        </p:spPr>
        <p:txBody>
          <a:bodyPr wrap="square" rtlCol="0" anchor="t"/>
          <a:lstStyle/>
          <a:p>
            <a:pPr algn="ctr" indent="0" marL="0">
              <a:buNone/>
            </a:pPr>
            <a:r>
              <a:rPr lang="en-US" sz="1150" b="1" dirty="0">
                <a:solidFill>
                  <a:srgbClr val="1E2530"/>
                </a:solidFill>
                <a:latin typeface="Calibri" pitchFamily="34" charset="0"/>
                <a:ea typeface="Calibri" pitchFamily="34" charset="-122"/>
                <a:cs typeface="Calibri" pitchFamily="34" charset="-120"/>
              </a:rPr>
              <a:t>Sales platform (GSSP) &amp; agency enablement</a:t>
            </a:r>
            <a:endParaRPr lang="en-US" sz="1150" dirty="0"/>
          </a:p>
        </p:txBody>
      </p:sp>
      <p:sp>
        <p:nvSpPr>
          <p:cNvPr id="19" name="Text 17"/>
          <p:cNvSpPr txBox="1"/>
          <p:nvPr/>
        </p:nvSpPr>
        <p:spPr>
          <a:xfrm>
            <a:off x="585216" y="3337560"/>
            <a:ext cx="1892808" cy="1051560"/>
          </a:xfrm>
          <a:prstGeom prst="rect">
            <a:avLst/>
          </a:prstGeom>
          <a:noFill/>
          <a:ln/>
        </p:spPr>
        <p:txBody>
          <a:bodyPr wrap="square" rtlCol="0" anchor="t"/>
          <a:lstStyle/>
          <a:p>
            <a:pPr algn="ctr" indent="0" marL="0">
              <a:lnSpc>
                <a:spcPct val="115000"/>
              </a:lnSpc>
              <a:buNone/>
            </a:pPr>
            <a:r>
              <a:rPr lang="en-US" sz="900" dirty="0">
                <a:solidFill>
                  <a:srgbClr val="6B7280"/>
                </a:solidFill>
                <a:latin typeface="Calibri" pitchFamily="34" charset="0"/>
                <a:ea typeface="Calibri" pitchFamily="34" charset="-122"/>
                <a:cs typeface="Calibri" pitchFamily="34" charset="-120"/>
              </a:rPr>
              <a:t>JP-GSSP</a:t>
            </a:r>
            <a:endParaRPr lang="en-US" sz="900" dirty="0"/>
          </a:p>
        </p:txBody>
      </p:sp>
      <p:sp>
        <p:nvSpPr>
          <p:cNvPr id="20" name="Shape 18"/>
          <p:cNvSpPr/>
          <p:nvPr/>
        </p:nvSpPr>
        <p:spPr>
          <a:xfrm>
            <a:off x="640080" y="4389120"/>
            <a:ext cx="1783080" cy="0"/>
          </a:xfrm>
          <a:prstGeom prst="line">
            <a:avLst/>
          </a:prstGeom>
          <a:noFill/>
          <a:ln w="12700">
            <a:solidFill>
              <a:srgbClr val="E1E6ED"/>
            </a:solidFill>
            <a:prstDash val="solid"/>
          </a:ln>
        </p:spPr>
      </p:sp>
      <p:sp>
        <p:nvSpPr>
          <p:cNvPr id="21" name="Text 19"/>
          <p:cNvSpPr txBox="1"/>
          <p:nvPr/>
        </p:nvSpPr>
        <p:spPr>
          <a:xfrm>
            <a:off x="548640" y="4453128"/>
            <a:ext cx="1965960" cy="384048"/>
          </a:xfrm>
          <a:prstGeom prst="rect">
            <a:avLst/>
          </a:prstGeom>
          <a:noFill/>
          <a:ln/>
        </p:spPr>
        <p:txBody>
          <a:bodyPr wrap="square" rtlCol="0" anchor="t"/>
          <a:lstStyle/>
          <a:p>
            <a:pPr algn="ctr" indent="0" marL="0">
              <a:buNone/>
            </a:pPr>
            <a:r>
              <a:rPr lang="en-US" sz="850" b="1" dirty="0">
                <a:solidFill>
                  <a:srgbClr val="394150"/>
                </a:solidFill>
                <a:latin typeface="Calibri" pitchFamily="34" charset="0"/>
                <a:ea typeface="Calibri" pitchFamily="34" charset="-122"/>
                <a:cs typeface="Calibri" pitchFamily="34" charset="-120"/>
              </a:rPr>
              <a:t>BA/BSA/Dev/Tester • Java, JavaScript • PaaS</a:t>
            </a:r>
            <a:endParaRPr lang="en-US" sz="850" dirty="0"/>
          </a:p>
        </p:txBody>
      </p:sp>
      <p:sp>
        <p:nvSpPr>
          <p:cNvPr id="22" name="Shape 20"/>
          <p:cNvSpPr/>
          <p:nvPr/>
        </p:nvSpPr>
        <p:spPr>
          <a:xfrm>
            <a:off x="2715768" y="1965960"/>
            <a:ext cx="2148840" cy="457200"/>
          </a:xfrm>
          <a:prstGeom prst="rect">
            <a:avLst/>
          </a:prstGeom>
          <a:solidFill>
            <a:srgbClr val="1E7FB8"/>
          </a:solidFill>
          <a:ln w="19050">
            <a:solidFill>
              <a:srgbClr val="0B4A6E"/>
            </a:solidFill>
            <a:prstDash val="solid"/>
          </a:ln>
        </p:spPr>
      </p:sp>
      <p:sp>
        <p:nvSpPr>
          <p:cNvPr id="23" name="Text 21"/>
          <p:cNvSpPr txBox="1"/>
          <p:nvPr/>
        </p:nvSpPr>
        <p:spPr>
          <a:xfrm>
            <a:off x="2788920" y="1965960"/>
            <a:ext cx="2002536"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Pod 2 | 110.0 (25.1%)</a:t>
            </a:r>
            <a:endParaRPr lang="en-US" sz="1000" dirty="0"/>
          </a:p>
        </p:txBody>
      </p:sp>
      <p:sp>
        <p:nvSpPr>
          <p:cNvPr id="24" name="Shape 22"/>
          <p:cNvSpPr/>
          <p:nvPr/>
        </p:nvSpPr>
        <p:spPr>
          <a:xfrm>
            <a:off x="2715768" y="2423160"/>
            <a:ext cx="2148840" cy="2468880"/>
          </a:xfrm>
          <a:prstGeom prst="rect">
            <a:avLst/>
          </a:prstGeom>
          <a:solidFill>
            <a:srgbClr val="F5F6F8"/>
          </a:solidFill>
          <a:ln w="12700">
            <a:solidFill>
              <a:srgbClr val="E1E6ED"/>
            </a:solidFill>
            <a:prstDash val="solid"/>
          </a:ln>
        </p:spPr>
      </p:sp>
      <p:sp>
        <p:nvSpPr>
          <p:cNvPr id="25" name="Text 23"/>
          <p:cNvSpPr txBox="1"/>
          <p:nvPr/>
        </p:nvSpPr>
        <p:spPr>
          <a:xfrm>
            <a:off x="2843784" y="2569464"/>
            <a:ext cx="1892808" cy="685800"/>
          </a:xfrm>
          <a:prstGeom prst="rect">
            <a:avLst/>
          </a:prstGeom>
          <a:noFill/>
          <a:ln/>
        </p:spPr>
        <p:txBody>
          <a:bodyPr wrap="square" rtlCol="0" anchor="t"/>
          <a:lstStyle/>
          <a:p>
            <a:pPr algn="ctr" indent="0" marL="0">
              <a:buNone/>
            </a:pPr>
            <a:r>
              <a:rPr lang="en-US" sz="1150" b="1" dirty="0">
                <a:solidFill>
                  <a:srgbClr val="1E2530"/>
                </a:solidFill>
                <a:latin typeface="Calibri" pitchFamily="34" charset="0"/>
                <a:ea typeface="Calibri" pitchFamily="34" charset="-122"/>
                <a:cs typeface="Calibri" pitchFamily="34" charset="-120"/>
              </a:rPr>
              <a:t>Bancassurance sales platform (BANCA)</a:t>
            </a:r>
            <a:endParaRPr lang="en-US" sz="1150" dirty="0"/>
          </a:p>
        </p:txBody>
      </p:sp>
      <p:sp>
        <p:nvSpPr>
          <p:cNvPr id="26" name="Text 24"/>
          <p:cNvSpPr txBox="1"/>
          <p:nvPr/>
        </p:nvSpPr>
        <p:spPr>
          <a:xfrm>
            <a:off x="2843784" y="3337560"/>
            <a:ext cx="1892808" cy="1051560"/>
          </a:xfrm>
          <a:prstGeom prst="rect">
            <a:avLst/>
          </a:prstGeom>
          <a:noFill/>
          <a:ln/>
        </p:spPr>
        <p:txBody>
          <a:bodyPr wrap="square" rtlCol="0" anchor="t"/>
          <a:lstStyle/>
          <a:p>
            <a:pPr algn="ctr" indent="0" marL="0">
              <a:lnSpc>
                <a:spcPct val="115000"/>
              </a:lnSpc>
              <a:buNone/>
            </a:pPr>
            <a:r>
              <a:rPr lang="en-US" sz="900" dirty="0">
                <a:solidFill>
                  <a:srgbClr val="6B7280"/>
                </a:solidFill>
                <a:latin typeface="Calibri" pitchFamily="34" charset="0"/>
                <a:ea typeface="Calibri" pitchFamily="34" charset="-122"/>
                <a:cs typeface="Calibri" pitchFamily="34" charset="-120"/>
              </a:rPr>
              <a:t>JP-BANCA</a:t>
            </a:r>
            <a:endParaRPr lang="en-US" sz="900" dirty="0"/>
          </a:p>
        </p:txBody>
      </p:sp>
      <p:sp>
        <p:nvSpPr>
          <p:cNvPr id="27" name="Shape 25"/>
          <p:cNvSpPr/>
          <p:nvPr/>
        </p:nvSpPr>
        <p:spPr>
          <a:xfrm>
            <a:off x="2898648" y="4389120"/>
            <a:ext cx="1783080" cy="0"/>
          </a:xfrm>
          <a:prstGeom prst="line">
            <a:avLst/>
          </a:prstGeom>
          <a:noFill/>
          <a:ln w="12700">
            <a:solidFill>
              <a:srgbClr val="E1E6ED"/>
            </a:solidFill>
            <a:prstDash val="solid"/>
          </a:ln>
        </p:spPr>
      </p:sp>
      <p:sp>
        <p:nvSpPr>
          <p:cNvPr id="28" name="Text 26"/>
          <p:cNvSpPr txBox="1"/>
          <p:nvPr/>
        </p:nvSpPr>
        <p:spPr>
          <a:xfrm>
            <a:off x="2807208" y="4453128"/>
            <a:ext cx="1965960" cy="384048"/>
          </a:xfrm>
          <a:prstGeom prst="rect">
            <a:avLst/>
          </a:prstGeom>
          <a:noFill/>
          <a:ln/>
        </p:spPr>
        <p:txBody>
          <a:bodyPr wrap="square" rtlCol="0" anchor="t"/>
          <a:lstStyle/>
          <a:p>
            <a:pPr algn="ctr" indent="0" marL="0">
              <a:buNone/>
            </a:pPr>
            <a:r>
              <a:rPr lang="en-US" sz="850" b="1" dirty="0">
                <a:solidFill>
                  <a:srgbClr val="394150"/>
                </a:solidFill>
                <a:latin typeface="Calibri" pitchFamily="34" charset="0"/>
                <a:ea typeface="Calibri" pitchFamily="34" charset="-122"/>
                <a:cs typeface="Calibri" pitchFamily="34" charset="-120"/>
              </a:rPr>
              <a:t>BA/BSA/Dev/Tester • Java, JavaScript • PaaS</a:t>
            </a:r>
            <a:endParaRPr lang="en-US" sz="850" dirty="0"/>
          </a:p>
        </p:txBody>
      </p:sp>
      <p:sp>
        <p:nvSpPr>
          <p:cNvPr id="29" name="Shape 27"/>
          <p:cNvSpPr/>
          <p:nvPr/>
        </p:nvSpPr>
        <p:spPr>
          <a:xfrm>
            <a:off x="4974336" y="1965960"/>
            <a:ext cx="2148840" cy="457200"/>
          </a:xfrm>
          <a:prstGeom prst="rect">
            <a:avLst/>
          </a:prstGeom>
          <a:solidFill>
            <a:srgbClr val="173A5E"/>
          </a:solidFill>
          <a:ln/>
        </p:spPr>
      </p:sp>
      <p:sp>
        <p:nvSpPr>
          <p:cNvPr id="30" name="Text 28"/>
          <p:cNvSpPr txBox="1"/>
          <p:nvPr/>
        </p:nvSpPr>
        <p:spPr>
          <a:xfrm>
            <a:off x="5047488" y="1965960"/>
            <a:ext cx="2002536"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Pod 3 | 59.8 (13.6%)</a:t>
            </a:r>
            <a:endParaRPr lang="en-US" sz="1000" dirty="0"/>
          </a:p>
        </p:txBody>
      </p:sp>
      <p:sp>
        <p:nvSpPr>
          <p:cNvPr id="31" name="Shape 29"/>
          <p:cNvSpPr/>
          <p:nvPr/>
        </p:nvSpPr>
        <p:spPr>
          <a:xfrm>
            <a:off x="4974336" y="2423160"/>
            <a:ext cx="2148840" cy="2468880"/>
          </a:xfrm>
          <a:prstGeom prst="rect">
            <a:avLst/>
          </a:prstGeom>
          <a:solidFill>
            <a:srgbClr val="F5F6F8"/>
          </a:solidFill>
          <a:ln w="12700">
            <a:solidFill>
              <a:srgbClr val="E1E6ED"/>
            </a:solidFill>
            <a:prstDash val="solid"/>
          </a:ln>
        </p:spPr>
      </p:sp>
      <p:sp>
        <p:nvSpPr>
          <p:cNvPr id="32" name="Text 30"/>
          <p:cNvSpPr txBox="1"/>
          <p:nvPr/>
        </p:nvSpPr>
        <p:spPr>
          <a:xfrm>
            <a:off x="5102352" y="2569464"/>
            <a:ext cx="1892808" cy="685800"/>
          </a:xfrm>
          <a:prstGeom prst="rect">
            <a:avLst/>
          </a:prstGeom>
          <a:noFill/>
          <a:ln/>
        </p:spPr>
        <p:txBody>
          <a:bodyPr wrap="square" rtlCol="0" anchor="t"/>
          <a:lstStyle/>
          <a:p>
            <a:pPr algn="ctr" indent="0" marL="0">
              <a:buNone/>
            </a:pPr>
            <a:r>
              <a:rPr lang="en-US" sz="1150" b="1" dirty="0">
                <a:solidFill>
                  <a:srgbClr val="1E2530"/>
                </a:solidFill>
                <a:latin typeface="Calibri" pitchFamily="34" charset="0"/>
                <a:ea typeface="Calibri" pitchFamily="34" charset="-122"/>
                <a:cs typeface="Calibri" pitchFamily="34" charset="-120"/>
              </a:rPr>
              <a:t>Distribution services &amp; partner integration</a:t>
            </a:r>
            <a:endParaRPr lang="en-US" sz="1150" dirty="0"/>
          </a:p>
        </p:txBody>
      </p:sp>
      <p:sp>
        <p:nvSpPr>
          <p:cNvPr id="33" name="Text 31"/>
          <p:cNvSpPr txBox="1"/>
          <p:nvPr/>
        </p:nvSpPr>
        <p:spPr>
          <a:xfrm>
            <a:off x="5102352" y="3337560"/>
            <a:ext cx="1892808" cy="1051560"/>
          </a:xfrm>
          <a:prstGeom prst="rect">
            <a:avLst/>
          </a:prstGeom>
          <a:noFill/>
          <a:ln/>
        </p:spPr>
        <p:txBody>
          <a:bodyPr wrap="square" rtlCol="0" anchor="t"/>
          <a:lstStyle/>
          <a:p>
            <a:pPr algn="ctr" indent="0" marL="0">
              <a:lnSpc>
                <a:spcPct val="115000"/>
              </a:lnSpc>
              <a:buNone/>
            </a:pPr>
            <a:r>
              <a:rPr lang="en-US" sz="900" dirty="0">
                <a:solidFill>
                  <a:srgbClr val="6B7280"/>
                </a:solidFill>
                <a:latin typeface="Calibri" pitchFamily="34" charset="0"/>
                <a:ea typeface="Calibri" pitchFamily="34" charset="-122"/>
                <a:cs typeface="Calibri" pitchFamily="34" charset="-120"/>
              </a:rPr>
              <a:t>WPSCFC, JP-Banca Report, WGLRPC, Distribution Sys., WCC</a:t>
            </a:r>
            <a:endParaRPr lang="en-US" sz="900" dirty="0"/>
          </a:p>
        </p:txBody>
      </p:sp>
      <p:sp>
        <p:nvSpPr>
          <p:cNvPr id="34" name="Shape 32"/>
          <p:cNvSpPr/>
          <p:nvPr/>
        </p:nvSpPr>
        <p:spPr>
          <a:xfrm>
            <a:off x="5157216" y="4389120"/>
            <a:ext cx="1783080" cy="0"/>
          </a:xfrm>
          <a:prstGeom prst="line">
            <a:avLst/>
          </a:prstGeom>
          <a:noFill/>
          <a:ln w="12700">
            <a:solidFill>
              <a:srgbClr val="E1E6ED"/>
            </a:solidFill>
            <a:prstDash val="solid"/>
          </a:ln>
        </p:spPr>
      </p:sp>
      <p:sp>
        <p:nvSpPr>
          <p:cNvPr id="35" name="Text 33"/>
          <p:cNvSpPr txBox="1"/>
          <p:nvPr/>
        </p:nvSpPr>
        <p:spPr>
          <a:xfrm>
            <a:off x="5065776" y="4453128"/>
            <a:ext cx="1965960" cy="384048"/>
          </a:xfrm>
          <a:prstGeom prst="rect">
            <a:avLst/>
          </a:prstGeom>
          <a:noFill/>
          <a:ln/>
        </p:spPr>
        <p:txBody>
          <a:bodyPr wrap="square" rtlCol="0" anchor="t"/>
          <a:lstStyle/>
          <a:p>
            <a:pPr algn="ctr" indent="0" marL="0">
              <a:buNone/>
            </a:pPr>
            <a:r>
              <a:rPr lang="en-US" sz="850" b="1" dirty="0">
                <a:solidFill>
                  <a:srgbClr val="394150"/>
                </a:solidFill>
                <a:latin typeface="Calibri" pitchFamily="34" charset="0"/>
                <a:ea typeface="Calibri" pitchFamily="34" charset="-122"/>
                <a:cs typeface="Calibri" pitchFamily="34" charset="-120"/>
              </a:rPr>
              <a:t>BA/BSA/Dev/Tester • Java, APEX • PaaS/SaaS</a:t>
            </a:r>
            <a:endParaRPr lang="en-US" sz="850" dirty="0"/>
          </a:p>
        </p:txBody>
      </p:sp>
      <p:sp>
        <p:nvSpPr>
          <p:cNvPr id="36" name="Shape 34"/>
          <p:cNvSpPr/>
          <p:nvPr/>
        </p:nvSpPr>
        <p:spPr>
          <a:xfrm>
            <a:off x="7232904" y="1965960"/>
            <a:ext cx="2148840" cy="457200"/>
          </a:xfrm>
          <a:prstGeom prst="rect">
            <a:avLst/>
          </a:prstGeom>
          <a:solidFill>
            <a:srgbClr val="173A5E"/>
          </a:solidFill>
          <a:ln/>
        </p:spPr>
      </p:sp>
      <p:sp>
        <p:nvSpPr>
          <p:cNvPr id="37" name="Text 35"/>
          <p:cNvSpPr txBox="1"/>
          <p:nvPr/>
        </p:nvSpPr>
        <p:spPr>
          <a:xfrm>
            <a:off x="7306056" y="1965960"/>
            <a:ext cx="2002536"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Pod 4 | 20.5 (4.7%)</a:t>
            </a:r>
            <a:endParaRPr lang="en-US" sz="1000" dirty="0"/>
          </a:p>
        </p:txBody>
      </p:sp>
      <p:sp>
        <p:nvSpPr>
          <p:cNvPr id="38" name="Shape 36"/>
          <p:cNvSpPr/>
          <p:nvPr/>
        </p:nvSpPr>
        <p:spPr>
          <a:xfrm>
            <a:off x="7232904" y="2423160"/>
            <a:ext cx="2148840" cy="2468880"/>
          </a:xfrm>
          <a:prstGeom prst="rect">
            <a:avLst/>
          </a:prstGeom>
          <a:solidFill>
            <a:srgbClr val="F5F6F8"/>
          </a:solidFill>
          <a:ln w="12700">
            <a:solidFill>
              <a:srgbClr val="E1E6ED"/>
            </a:solidFill>
            <a:prstDash val="solid"/>
          </a:ln>
        </p:spPr>
      </p:sp>
      <p:sp>
        <p:nvSpPr>
          <p:cNvPr id="39" name="Text 37"/>
          <p:cNvSpPr txBox="1"/>
          <p:nvPr/>
        </p:nvSpPr>
        <p:spPr>
          <a:xfrm>
            <a:off x="7360920" y="2569464"/>
            <a:ext cx="1892808" cy="685800"/>
          </a:xfrm>
          <a:prstGeom prst="rect">
            <a:avLst/>
          </a:prstGeom>
          <a:noFill/>
          <a:ln/>
        </p:spPr>
        <p:txBody>
          <a:bodyPr wrap="square" rtlCol="0" anchor="t"/>
          <a:lstStyle/>
          <a:p>
            <a:pPr algn="ctr" indent="0" marL="0">
              <a:buNone/>
            </a:pPr>
            <a:r>
              <a:rPr lang="en-US" sz="1150" b="1" dirty="0">
                <a:solidFill>
                  <a:srgbClr val="1E2530"/>
                </a:solidFill>
                <a:latin typeface="Calibri" pitchFamily="34" charset="0"/>
                <a:ea typeface="Calibri" pitchFamily="34" charset="-122"/>
                <a:cs typeface="Calibri" pitchFamily="34" charset="-120"/>
              </a:rPr>
              <a:t>Recruitment channel &amp; call-center support</a:t>
            </a:r>
            <a:endParaRPr lang="en-US" sz="1150" dirty="0"/>
          </a:p>
        </p:txBody>
      </p:sp>
      <p:sp>
        <p:nvSpPr>
          <p:cNvPr id="40" name="Text 38"/>
          <p:cNvSpPr txBox="1"/>
          <p:nvPr/>
        </p:nvSpPr>
        <p:spPr>
          <a:xfrm>
            <a:off x="7360920" y="3337560"/>
            <a:ext cx="1892808" cy="1051560"/>
          </a:xfrm>
          <a:prstGeom prst="rect">
            <a:avLst/>
          </a:prstGeom>
          <a:noFill/>
          <a:ln/>
        </p:spPr>
        <p:txBody>
          <a:bodyPr wrap="square" rtlCol="0" anchor="t"/>
          <a:lstStyle/>
          <a:p>
            <a:pPr algn="ctr" indent="0" marL="0">
              <a:lnSpc>
                <a:spcPct val="115000"/>
              </a:lnSpc>
              <a:buNone/>
            </a:pPr>
            <a:r>
              <a:rPr lang="en-US" sz="900" dirty="0">
                <a:solidFill>
                  <a:srgbClr val="6B7280"/>
                </a:solidFill>
                <a:latin typeface="Calibri" pitchFamily="34" charset="0"/>
                <a:ea typeface="Calibri" pitchFamily="34" charset="-122"/>
                <a:cs typeface="Calibri" pitchFamily="34" charset="-120"/>
              </a:rPr>
              <a:t>WAAATF, JP-Remote Closing, IVR Tekigosei, W09WSD BIS</a:t>
            </a:r>
            <a:endParaRPr lang="en-US" sz="900" dirty="0"/>
          </a:p>
        </p:txBody>
      </p:sp>
      <p:sp>
        <p:nvSpPr>
          <p:cNvPr id="41" name="Shape 39"/>
          <p:cNvSpPr/>
          <p:nvPr/>
        </p:nvSpPr>
        <p:spPr>
          <a:xfrm>
            <a:off x="7415784" y="4389120"/>
            <a:ext cx="1783080" cy="0"/>
          </a:xfrm>
          <a:prstGeom prst="line">
            <a:avLst/>
          </a:prstGeom>
          <a:noFill/>
          <a:ln w="12700">
            <a:solidFill>
              <a:srgbClr val="E1E6ED"/>
            </a:solidFill>
            <a:prstDash val="solid"/>
          </a:ln>
        </p:spPr>
      </p:sp>
      <p:sp>
        <p:nvSpPr>
          <p:cNvPr id="42" name="Text 40"/>
          <p:cNvSpPr txBox="1"/>
          <p:nvPr/>
        </p:nvSpPr>
        <p:spPr>
          <a:xfrm>
            <a:off x="7324344" y="4453128"/>
            <a:ext cx="1965960" cy="384048"/>
          </a:xfrm>
          <a:prstGeom prst="rect">
            <a:avLst/>
          </a:prstGeom>
          <a:noFill/>
          <a:ln/>
        </p:spPr>
        <p:txBody>
          <a:bodyPr wrap="square" rtlCol="0" anchor="t"/>
          <a:lstStyle/>
          <a:p>
            <a:pPr algn="ctr" indent="0" marL="0">
              <a:buNone/>
            </a:pPr>
            <a:r>
              <a:rPr lang="en-US" sz="850" b="1" dirty="0">
                <a:solidFill>
                  <a:srgbClr val="394150"/>
                </a:solidFill>
                <a:latin typeface="Calibri" pitchFamily="34" charset="0"/>
                <a:ea typeface="Calibri" pitchFamily="34" charset="-122"/>
                <a:cs typeface="Calibri" pitchFamily="34" charset="-120"/>
              </a:rPr>
              <a:t>BA/BSA/Dev/Tester • Java, VB.NET • Mixed</a:t>
            </a:r>
            <a:endParaRPr lang="en-US" sz="850" dirty="0"/>
          </a:p>
        </p:txBody>
      </p:sp>
      <p:sp>
        <p:nvSpPr>
          <p:cNvPr id="43" name="Shape 41"/>
          <p:cNvSpPr/>
          <p:nvPr/>
        </p:nvSpPr>
        <p:spPr>
          <a:xfrm>
            <a:off x="9491472" y="1965960"/>
            <a:ext cx="2148840" cy="457200"/>
          </a:xfrm>
          <a:prstGeom prst="rect">
            <a:avLst/>
          </a:prstGeom>
          <a:solidFill>
            <a:srgbClr val="173A5E"/>
          </a:solidFill>
          <a:ln/>
        </p:spPr>
      </p:sp>
      <p:sp>
        <p:nvSpPr>
          <p:cNvPr id="44" name="Text 42"/>
          <p:cNvSpPr txBox="1"/>
          <p:nvPr/>
        </p:nvSpPr>
        <p:spPr>
          <a:xfrm>
            <a:off x="9564624" y="1965960"/>
            <a:ext cx="2002536"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Pod 5 | 18.5 (4.2%)</a:t>
            </a:r>
            <a:endParaRPr lang="en-US" sz="1000" dirty="0"/>
          </a:p>
        </p:txBody>
      </p:sp>
      <p:sp>
        <p:nvSpPr>
          <p:cNvPr id="45" name="Shape 43"/>
          <p:cNvSpPr/>
          <p:nvPr/>
        </p:nvSpPr>
        <p:spPr>
          <a:xfrm>
            <a:off x="9491472" y="2423160"/>
            <a:ext cx="2148840" cy="2468880"/>
          </a:xfrm>
          <a:prstGeom prst="rect">
            <a:avLst/>
          </a:prstGeom>
          <a:solidFill>
            <a:srgbClr val="F5F6F8"/>
          </a:solidFill>
          <a:ln w="12700">
            <a:solidFill>
              <a:srgbClr val="E1E6ED"/>
            </a:solidFill>
            <a:prstDash val="solid"/>
          </a:ln>
        </p:spPr>
      </p:sp>
      <p:sp>
        <p:nvSpPr>
          <p:cNvPr id="46" name="Text 44"/>
          <p:cNvSpPr txBox="1"/>
          <p:nvPr/>
        </p:nvSpPr>
        <p:spPr>
          <a:xfrm>
            <a:off x="9619488" y="2569464"/>
            <a:ext cx="1892808" cy="685800"/>
          </a:xfrm>
          <a:prstGeom prst="rect">
            <a:avLst/>
          </a:prstGeom>
          <a:noFill/>
          <a:ln/>
        </p:spPr>
        <p:txBody>
          <a:bodyPr wrap="square" rtlCol="0" anchor="t"/>
          <a:lstStyle/>
          <a:p>
            <a:pPr algn="ctr" indent="0" marL="0">
              <a:buNone/>
            </a:pPr>
            <a:r>
              <a:rPr lang="en-US" sz="1150" b="1" dirty="0">
                <a:solidFill>
                  <a:srgbClr val="1E2530"/>
                </a:solidFill>
                <a:latin typeface="Calibri" pitchFamily="34" charset="0"/>
                <a:ea typeface="Calibri" pitchFamily="34" charset="-122"/>
                <a:cs typeface="Calibri" pitchFamily="34" charset="-120"/>
              </a:rPr>
              <a:t>Branch &amp; agency desktop tools</a:t>
            </a:r>
            <a:endParaRPr lang="en-US" sz="1150" dirty="0"/>
          </a:p>
        </p:txBody>
      </p:sp>
      <p:sp>
        <p:nvSpPr>
          <p:cNvPr id="47" name="Text 45"/>
          <p:cNvSpPr txBox="1"/>
          <p:nvPr/>
        </p:nvSpPr>
        <p:spPr>
          <a:xfrm>
            <a:off x="9619488" y="3337560"/>
            <a:ext cx="1892808" cy="1051560"/>
          </a:xfrm>
          <a:prstGeom prst="rect">
            <a:avLst/>
          </a:prstGeom>
          <a:noFill/>
          <a:ln/>
        </p:spPr>
        <p:txBody>
          <a:bodyPr wrap="square" rtlCol="0" anchor="t"/>
          <a:lstStyle/>
          <a:p>
            <a:pPr algn="ctr" indent="0" marL="0">
              <a:lnSpc>
                <a:spcPct val="115000"/>
              </a:lnSpc>
              <a:buNone/>
            </a:pPr>
            <a:r>
              <a:rPr lang="en-US" sz="900" dirty="0">
                <a:solidFill>
                  <a:srgbClr val="6B7280"/>
                </a:solidFill>
                <a:latin typeface="Calibri" pitchFamily="34" charset="0"/>
                <a:ea typeface="Calibri" pitchFamily="34" charset="-122"/>
                <a:cs typeface="Calibri" pitchFamily="34" charset="-120"/>
              </a:rPr>
              <a:t>P02BKE-JPN, W08NAV-JPN</a:t>
            </a:r>
            <a:endParaRPr lang="en-US" sz="900" dirty="0"/>
          </a:p>
        </p:txBody>
      </p:sp>
      <p:sp>
        <p:nvSpPr>
          <p:cNvPr id="48" name="Shape 46"/>
          <p:cNvSpPr/>
          <p:nvPr/>
        </p:nvSpPr>
        <p:spPr>
          <a:xfrm>
            <a:off x="9674352" y="4389120"/>
            <a:ext cx="1783080" cy="0"/>
          </a:xfrm>
          <a:prstGeom prst="line">
            <a:avLst/>
          </a:prstGeom>
          <a:noFill/>
          <a:ln w="12700">
            <a:solidFill>
              <a:srgbClr val="E1E6ED"/>
            </a:solidFill>
            <a:prstDash val="solid"/>
          </a:ln>
        </p:spPr>
      </p:sp>
      <p:sp>
        <p:nvSpPr>
          <p:cNvPr id="49" name="Text 47"/>
          <p:cNvSpPr txBox="1"/>
          <p:nvPr/>
        </p:nvSpPr>
        <p:spPr>
          <a:xfrm>
            <a:off x="9582912" y="4453128"/>
            <a:ext cx="1965960" cy="384048"/>
          </a:xfrm>
          <a:prstGeom prst="rect">
            <a:avLst/>
          </a:prstGeom>
          <a:noFill/>
          <a:ln/>
        </p:spPr>
        <p:txBody>
          <a:bodyPr wrap="square" rtlCol="0" anchor="t"/>
          <a:lstStyle/>
          <a:p>
            <a:pPr algn="ctr" indent="0" marL="0">
              <a:buNone/>
            </a:pPr>
            <a:r>
              <a:rPr lang="en-US" sz="850" b="1" dirty="0">
                <a:solidFill>
                  <a:srgbClr val="394150"/>
                </a:solidFill>
                <a:latin typeface="Calibri" pitchFamily="34" charset="0"/>
                <a:ea typeface="Calibri" pitchFamily="34" charset="-122"/>
                <a:cs typeface="Calibri" pitchFamily="34" charset="-120"/>
              </a:rPr>
              <a:t>BA/BSA/Dev/Tester • VB, VBA • On-prem</a:t>
            </a:r>
            <a:endParaRPr lang="en-US" sz="850" dirty="0"/>
          </a:p>
        </p:txBody>
      </p:sp>
      <p:sp>
        <p:nvSpPr>
          <p:cNvPr id="50" name="Text 48"/>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51" name="Text 49"/>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52" name="Text 50"/>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Leverage evolution: reach the 50:50 workforce target without destabilizing service</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 target of 219.357 FTC and 219.357 FTE/MGCC against the current 438.714 baseline. Gap-closure pacing reuses the Contract Management methodology.</a:t>
            </a:r>
            <a:endParaRPr lang="en-US" sz="1100" dirty="0"/>
          </a:p>
        </p:txBody>
      </p:sp>
      <p:sp>
        <p:nvSpPr>
          <p:cNvPr id="5" name="Shape 3"/>
          <p:cNvSpPr/>
          <p:nvPr/>
        </p:nvSpPr>
        <p:spPr>
          <a:xfrm>
            <a:off x="457200" y="1371600"/>
            <a:ext cx="2011680" cy="384048"/>
          </a:xfrm>
          <a:prstGeom prst="rect">
            <a:avLst/>
          </a:prstGeom>
          <a:solidFill>
            <a:srgbClr val="6B7280"/>
          </a:solidFill>
          <a:ln/>
        </p:spPr>
      </p:sp>
      <p:sp>
        <p:nvSpPr>
          <p:cNvPr id="6" name="Text 4"/>
          <p:cNvSpPr txBox="1"/>
          <p:nvPr/>
        </p:nvSpPr>
        <p:spPr>
          <a:xfrm>
            <a:off x="457200" y="1371600"/>
            <a:ext cx="20116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Current baseline</a:t>
            </a:r>
            <a:endParaRPr lang="en-US" sz="1050" dirty="0"/>
          </a:p>
        </p:txBody>
      </p:sp>
      <p:sp>
        <p:nvSpPr>
          <p:cNvPr id="7" name="Shape 5"/>
          <p:cNvSpPr/>
          <p:nvPr/>
        </p:nvSpPr>
        <p:spPr>
          <a:xfrm>
            <a:off x="457200" y="1755648"/>
            <a:ext cx="2011680" cy="868680"/>
          </a:xfrm>
          <a:prstGeom prst="rect">
            <a:avLst/>
          </a:prstGeom>
          <a:solidFill>
            <a:srgbClr val="F5F6F8"/>
          </a:solidFill>
          <a:ln w="12700">
            <a:solidFill>
              <a:srgbClr val="E1E6ED"/>
            </a:solidFill>
            <a:prstDash val="solid"/>
          </a:ln>
        </p:spPr>
      </p:sp>
      <p:sp>
        <p:nvSpPr>
          <p:cNvPr id="8" name="Text 6"/>
          <p:cNvSpPr txBox="1"/>
          <p:nvPr/>
        </p:nvSpPr>
        <p:spPr>
          <a:xfrm>
            <a:off x="457200" y="1883664"/>
            <a:ext cx="2011680" cy="365760"/>
          </a:xfrm>
          <a:prstGeom prst="rect">
            <a:avLst/>
          </a:prstGeom>
          <a:noFill/>
          <a:ln/>
        </p:spPr>
        <p:txBody>
          <a:bodyPr wrap="square" rtlCol="0" anchor="ctr"/>
          <a:lstStyle/>
          <a:p>
            <a:pPr algn="ctr" indent="0" marL="0">
              <a:buNone/>
            </a:pPr>
            <a:r>
              <a:rPr lang="en-US" sz="1700" b="1" dirty="0">
                <a:solidFill>
                  <a:srgbClr val="1E2530"/>
                </a:solidFill>
                <a:latin typeface="Calibri" pitchFamily="34" charset="0"/>
                <a:ea typeface="Calibri" pitchFamily="34" charset="-122"/>
                <a:cs typeface="Calibri" pitchFamily="34" charset="-120"/>
              </a:rPr>
              <a:t>61% FTC</a:t>
            </a:r>
            <a:endParaRPr lang="en-US" sz="1700" dirty="0"/>
          </a:p>
        </p:txBody>
      </p:sp>
      <p:sp>
        <p:nvSpPr>
          <p:cNvPr id="9" name="Text 7"/>
          <p:cNvSpPr txBox="1"/>
          <p:nvPr/>
        </p:nvSpPr>
        <p:spPr>
          <a:xfrm>
            <a:off x="457200" y="2286000"/>
            <a:ext cx="2011680" cy="292608"/>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39% FTE/MGCC</a:t>
            </a:r>
            <a:endParaRPr lang="en-US" sz="1100" dirty="0"/>
          </a:p>
        </p:txBody>
      </p:sp>
      <p:sp>
        <p:nvSpPr>
          <p:cNvPr id="10" name="Text 8"/>
          <p:cNvSpPr txBox="1"/>
          <p:nvPr/>
        </p:nvSpPr>
        <p:spPr>
          <a:xfrm>
            <a:off x="2487168" y="1938528"/>
            <a:ext cx="283464" cy="457200"/>
          </a:xfrm>
          <a:prstGeom prst="rect">
            <a:avLst/>
          </a:prstGeom>
          <a:noFill/>
          <a:ln/>
        </p:spPr>
        <p:txBody>
          <a:bodyPr wrap="square" rtlCol="0" anchor="ctr"/>
          <a:lstStyle/>
          <a:p>
            <a:pPr algn="ctr" indent="0" marL="0">
              <a:buNone/>
            </a:pPr>
            <a:r>
              <a:rPr lang="en-US" sz="1800" b="1" dirty="0">
                <a:solidFill>
                  <a:srgbClr val="AAB2C0"/>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788920" y="1371600"/>
            <a:ext cx="2011680" cy="384048"/>
          </a:xfrm>
          <a:prstGeom prst="rect">
            <a:avLst/>
          </a:prstGeom>
          <a:solidFill>
            <a:srgbClr val="173A5E"/>
          </a:solidFill>
          <a:ln/>
        </p:spPr>
      </p:sp>
      <p:sp>
        <p:nvSpPr>
          <p:cNvPr id="12" name="Text 10"/>
          <p:cNvSpPr txBox="1"/>
          <p:nvPr/>
        </p:nvSpPr>
        <p:spPr>
          <a:xfrm>
            <a:off x="2788920" y="1371600"/>
            <a:ext cx="20116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Day 1 transition</a:t>
            </a:r>
            <a:endParaRPr lang="en-US" sz="1050" dirty="0"/>
          </a:p>
        </p:txBody>
      </p:sp>
      <p:sp>
        <p:nvSpPr>
          <p:cNvPr id="13" name="Shape 11"/>
          <p:cNvSpPr/>
          <p:nvPr/>
        </p:nvSpPr>
        <p:spPr>
          <a:xfrm>
            <a:off x="2788920" y="1755648"/>
            <a:ext cx="2011680" cy="868680"/>
          </a:xfrm>
          <a:prstGeom prst="rect">
            <a:avLst/>
          </a:prstGeom>
          <a:solidFill>
            <a:srgbClr val="F5F6F8"/>
          </a:solidFill>
          <a:ln w="12700">
            <a:solidFill>
              <a:srgbClr val="E1E6ED"/>
            </a:solidFill>
            <a:prstDash val="solid"/>
          </a:ln>
        </p:spPr>
      </p:sp>
      <p:sp>
        <p:nvSpPr>
          <p:cNvPr id="14" name="Text 12"/>
          <p:cNvSpPr txBox="1"/>
          <p:nvPr/>
        </p:nvSpPr>
        <p:spPr>
          <a:xfrm>
            <a:off x="2788920" y="1883664"/>
            <a:ext cx="2011680" cy="365760"/>
          </a:xfrm>
          <a:prstGeom prst="rect">
            <a:avLst/>
          </a:prstGeom>
          <a:noFill/>
          <a:ln/>
        </p:spPr>
        <p:txBody>
          <a:bodyPr wrap="square" rtlCol="0" anchor="ctr"/>
          <a:lstStyle/>
          <a:p>
            <a:pPr algn="ctr" indent="0" marL="0">
              <a:buNone/>
            </a:pPr>
            <a:r>
              <a:rPr lang="en-US" sz="1700" b="1" dirty="0">
                <a:solidFill>
                  <a:srgbClr val="1E2530"/>
                </a:solidFill>
                <a:latin typeface="Calibri" pitchFamily="34" charset="0"/>
                <a:ea typeface="Calibri" pitchFamily="34" charset="-122"/>
                <a:cs typeface="Calibri" pitchFamily="34" charset="-120"/>
              </a:rPr>
              <a:t>57% FTC</a:t>
            </a:r>
            <a:endParaRPr lang="en-US" sz="1700" dirty="0"/>
          </a:p>
        </p:txBody>
      </p:sp>
      <p:sp>
        <p:nvSpPr>
          <p:cNvPr id="15" name="Text 13"/>
          <p:cNvSpPr txBox="1"/>
          <p:nvPr/>
        </p:nvSpPr>
        <p:spPr>
          <a:xfrm>
            <a:off x="2788920" y="2286000"/>
            <a:ext cx="2011680" cy="292608"/>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43% FTE/MGCC</a:t>
            </a:r>
            <a:endParaRPr lang="en-US" sz="1100" dirty="0"/>
          </a:p>
        </p:txBody>
      </p:sp>
      <p:sp>
        <p:nvSpPr>
          <p:cNvPr id="16" name="Text 14"/>
          <p:cNvSpPr txBox="1"/>
          <p:nvPr/>
        </p:nvSpPr>
        <p:spPr>
          <a:xfrm>
            <a:off x="4818888" y="1938528"/>
            <a:ext cx="283464" cy="457200"/>
          </a:xfrm>
          <a:prstGeom prst="rect">
            <a:avLst/>
          </a:prstGeom>
          <a:noFill/>
          <a:ln/>
        </p:spPr>
        <p:txBody>
          <a:bodyPr wrap="square" rtlCol="0" anchor="ctr"/>
          <a:lstStyle/>
          <a:p>
            <a:pPr algn="ctr" indent="0" marL="0">
              <a:buNone/>
            </a:pPr>
            <a:r>
              <a:rPr lang="en-US" sz="1800" b="1" dirty="0">
                <a:solidFill>
                  <a:srgbClr val="AAB2C0"/>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120640" y="1371600"/>
            <a:ext cx="2011680" cy="384048"/>
          </a:xfrm>
          <a:prstGeom prst="rect">
            <a:avLst/>
          </a:prstGeom>
          <a:solidFill>
            <a:srgbClr val="1E7FB8"/>
          </a:solidFill>
          <a:ln/>
        </p:spPr>
      </p:sp>
      <p:sp>
        <p:nvSpPr>
          <p:cNvPr id="18" name="Text 16"/>
          <p:cNvSpPr txBox="1"/>
          <p:nvPr/>
        </p:nvSpPr>
        <p:spPr>
          <a:xfrm>
            <a:off x="5120640" y="1371600"/>
            <a:ext cx="20116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Year 1 stabilize</a:t>
            </a:r>
            <a:endParaRPr lang="en-US" sz="1050" dirty="0"/>
          </a:p>
        </p:txBody>
      </p:sp>
      <p:sp>
        <p:nvSpPr>
          <p:cNvPr id="19" name="Shape 17"/>
          <p:cNvSpPr/>
          <p:nvPr/>
        </p:nvSpPr>
        <p:spPr>
          <a:xfrm>
            <a:off x="5120640" y="1755648"/>
            <a:ext cx="2011680" cy="868680"/>
          </a:xfrm>
          <a:prstGeom prst="rect">
            <a:avLst/>
          </a:prstGeom>
          <a:solidFill>
            <a:srgbClr val="F5F6F8"/>
          </a:solidFill>
          <a:ln w="12700">
            <a:solidFill>
              <a:srgbClr val="E1E6ED"/>
            </a:solidFill>
            <a:prstDash val="solid"/>
          </a:ln>
        </p:spPr>
      </p:sp>
      <p:sp>
        <p:nvSpPr>
          <p:cNvPr id="20" name="Text 18"/>
          <p:cNvSpPr txBox="1"/>
          <p:nvPr/>
        </p:nvSpPr>
        <p:spPr>
          <a:xfrm>
            <a:off x="5120640" y="1883664"/>
            <a:ext cx="2011680" cy="365760"/>
          </a:xfrm>
          <a:prstGeom prst="rect">
            <a:avLst/>
          </a:prstGeom>
          <a:noFill/>
          <a:ln/>
        </p:spPr>
        <p:txBody>
          <a:bodyPr wrap="square" rtlCol="0" anchor="ctr"/>
          <a:lstStyle/>
          <a:p>
            <a:pPr algn="ctr" indent="0" marL="0">
              <a:buNone/>
            </a:pPr>
            <a:r>
              <a:rPr lang="en-US" sz="1700" b="1" dirty="0">
                <a:solidFill>
                  <a:srgbClr val="1E2530"/>
                </a:solidFill>
                <a:latin typeface="Calibri" pitchFamily="34" charset="0"/>
                <a:ea typeface="Calibri" pitchFamily="34" charset="-122"/>
                <a:cs typeface="Calibri" pitchFamily="34" charset="-120"/>
              </a:rPr>
              <a:t>54% FTC</a:t>
            </a:r>
            <a:endParaRPr lang="en-US" sz="1700" dirty="0"/>
          </a:p>
        </p:txBody>
      </p:sp>
      <p:sp>
        <p:nvSpPr>
          <p:cNvPr id="21" name="Text 19"/>
          <p:cNvSpPr txBox="1"/>
          <p:nvPr/>
        </p:nvSpPr>
        <p:spPr>
          <a:xfrm>
            <a:off x="5120640" y="2286000"/>
            <a:ext cx="2011680" cy="292608"/>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46% FTE/MGCC</a:t>
            </a:r>
            <a:endParaRPr lang="en-US" sz="1100" dirty="0"/>
          </a:p>
        </p:txBody>
      </p:sp>
      <p:sp>
        <p:nvSpPr>
          <p:cNvPr id="22" name="Text 20"/>
          <p:cNvSpPr txBox="1"/>
          <p:nvPr/>
        </p:nvSpPr>
        <p:spPr>
          <a:xfrm>
            <a:off x="7150608" y="1938528"/>
            <a:ext cx="283464" cy="457200"/>
          </a:xfrm>
          <a:prstGeom prst="rect">
            <a:avLst/>
          </a:prstGeom>
          <a:noFill/>
          <a:ln/>
        </p:spPr>
        <p:txBody>
          <a:bodyPr wrap="square" rtlCol="0" anchor="ctr"/>
          <a:lstStyle/>
          <a:p>
            <a:pPr algn="ctr" indent="0" marL="0">
              <a:buNone/>
            </a:pPr>
            <a:r>
              <a:rPr lang="en-US" sz="1800" b="1" dirty="0">
                <a:solidFill>
                  <a:srgbClr val="AAB2C0"/>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7452360" y="1371600"/>
            <a:ext cx="2011680" cy="384048"/>
          </a:xfrm>
          <a:prstGeom prst="rect">
            <a:avLst/>
          </a:prstGeom>
          <a:solidFill>
            <a:srgbClr val="1E9E8E"/>
          </a:solidFill>
          <a:ln/>
        </p:spPr>
      </p:sp>
      <p:sp>
        <p:nvSpPr>
          <p:cNvPr id="24" name="Text 22"/>
          <p:cNvSpPr txBox="1"/>
          <p:nvPr/>
        </p:nvSpPr>
        <p:spPr>
          <a:xfrm>
            <a:off x="7452360" y="1371600"/>
            <a:ext cx="20116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Year 2 rebalance</a:t>
            </a:r>
            <a:endParaRPr lang="en-US" sz="1050" dirty="0"/>
          </a:p>
        </p:txBody>
      </p:sp>
      <p:sp>
        <p:nvSpPr>
          <p:cNvPr id="25" name="Shape 23"/>
          <p:cNvSpPr/>
          <p:nvPr/>
        </p:nvSpPr>
        <p:spPr>
          <a:xfrm>
            <a:off x="7452360" y="1755648"/>
            <a:ext cx="2011680" cy="868680"/>
          </a:xfrm>
          <a:prstGeom prst="rect">
            <a:avLst/>
          </a:prstGeom>
          <a:solidFill>
            <a:srgbClr val="F5F6F8"/>
          </a:solidFill>
          <a:ln w="12700">
            <a:solidFill>
              <a:srgbClr val="E1E6ED"/>
            </a:solidFill>
            <a:prstDash val="solid"/>
          </a:ln>
        </p:spPr>
      </p:sp>
      <p:sp>
        <p:nvSpPr>
          <p:cNvPr id="26" name="Text 24"/>
          <p:cNvSpPr txBox="1"/>
          <p:nvPr/>
        </p:nvSpPr>
        <p:spPr>
          <a:xfrm>
            <a:off x="7452360" y="1883664"/>
            <a:ext cx="2011680" cy="365760"/>
          </a:xfrm>
          <a:prstGeom prst="rect">
            <a:avLst/>
          </a:prstGeom>
          <a:noFill/>
          <a:ln/>
        </p:spPr>
        <p:txBody>
          <a:bodyPr wrap="square" rtlCol="0" anchor="ctr"/>
          <a:lstStyle/>
          <a:p>
            <a:pPr algn="ctr" indent="0" marL="0">
              <a:buNone/>
            </a:pPr>
            <a:r>
              <a:rPr lang="en-US" sz="1700" b="1" dirty="0">
                <a:solidFill>
                  <a:srgbClr val="1E2530"/>
                </a:solidFill>
                <a:latin typeface="Calibri" pitchFamily="34" charset="0"/>
                <a:ea typeface="Calibri" pitchFamily="34" charset="-122"/>
                <a:cs typeface="Calibri" pitchFamily="34" charset="-120"/>
              </a:rPr>
              <a:t>52% FTC</a:t>
            </a:r>
            <a:endParaRPr lang="en-US" sz="1700" dirty="0"/>
          </a:p>
        </p:txBody>
      </p:sp>
      <p:sp>
        <p:nvSpPr>
          <p:cNvPr id="27" name="Text 25"/>
          <p:cNvSpPr txBox="1"/>
          <p:nvPr/>
        </p:nvSpPr>
        <p:spPr>
          <a:xfrm>
            <a:off x="7452360" y="2286000"/>
            <a:ext cx="2011680" cy="292608"/>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48% FTE/MGCC</a:t>
            </a:r>
            <a:endParaRPr lang="en-US" sz="1100" dirty="0"/>
          </a:p>
        </p:txBody>
      </p:sp>
      <p:sp>
        <p:nvSpPr>
          <p:cNvPr id="28" name="Text 26"/>
          <p:cNvSpPr txBox="1"/>
          <p:nvPr/>
        </p:nvSpPr>
        <p:spPr>
          <a:xfrm>
            <a:off x="9482328" y="1938528"/>
            <a:ext cx="283464" cy="457200"/>
          </a:xfrm>
          <a:prstGeom prst="rect">
            <a:avLst/>
          </a:prstGeom>
          <a:noFill/>
          <a:ln/>
        </p:spPr>
        <p:txBody>
          <a:bodyPr wrap="square" rtlCol="0" anchor="ctr"/>
          <a:lstStyle/>
          <a:p>
            <a:pPr algn="ctr" indent="0" marL="0">
              <a:buNone/>
            </a:pPr>
            <a:r>
              <a:rPr lang="en-US" sz="1800" b="1" dirty="0">
                <a:solidFill>
                  <a:srgbClr val="AAB2C0"/>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9784080" y="1371600"/>
            <a:ext cx="2011680" cy="384048"/>
          </a:xfrm>
          <a:prstGeom prst="rect">
            <a:avLst/>
          </a:prstGeom>
          <a:solidFill>
            <a:srgbClr val="3B3FA6"/>
          </a:solidFill>
          <a:ln/>
        </p:spPr>
      </p:sp>
      <p:sp>
        <p:nvSpPr>
          <p:cNvPr id="30" name="Text 28"/>
          <p:cNvSpPr txBox="1"/>
          <p:nvPr/>
        </p:nvSpPr>
        <p:spPr>
          <a:xfrm>
            <a:off x="9784080" y="1371600"/>
            <a:ext cx="2011680" cy="384048"/>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Year 3 target</a:t>
            </a:r>
            <a:endParaRPr lang="en-US" sz="1050" dirty="0"/>
          </a:p>
        </p:txBody>
      </p:sp>
      <p:sp>
        <p:nvSpPr>
          <p:cNvPr id="31" name="Shape 29"/>
          <p:cNvSpPr/>
          <p:nvPr/>
        </p:nvSpPr>
        <p:spPr>
          <a:xfrm>
            <a:off x="9784080" y="1755648"/>
            <a:ext cx="2011680" cy="868680"/>
          </a:xfrm>
          <a:prstGeom prst="rect">
            <a:avLst/>
          </a:prstGeom>
          <a:solidFill>
            <a:srgbClr val="F5F6F8"/>
          </a:solidFill>
          <a:ln w="12700">
            <a:solidFill>
              <a:srgbClr val="E1E6ED"/>
            </a:solidFill>
            <a:prstDash val="solid"/>
          </a:ln>
        </p:spPr>
      </p:sp>
      <p:sp>
        <p:nvSpPr>
          <p:cNvPr id="32" name="Text 30"/>
          <p:cNvSpPr txBox="1"/>
          <p:nvPr/>
        </p:nvSpPr>
        <p:spPr>
          <a:xfrm>
            <a:off x="9784080" y="1883664"/>
            <a:ext cx="2011680" cy="365760"/>
          </a:xfrm>
          <a:prstGeom prst="rect">
            <a:avLst/>
          </a:prstGeom>
          <a:noFill/>
          <a:ln/>
        </p:spPr>
        <p:txBody>
          <a:bodyPr wrap="square" rtlCol="0" anchor="ctr"/>
          <a:lstStyle/>
          <a:p>
            <a:pPr algn="ctr" indent="0" marL="0">
              <a:buNone/>
            </a:pPr>
            <a:r>
              <a:rPr lang="en-US" sz="1700" b="1" dirty="0">
                <a:solidFill>
                  <a:srgbClr val="1E2530"/>
                </a:solidFill>
                <a:latin typeface="Calibri" pitchFamily="34" charset="0"/>
                <a:ea typeface="Calibri" pitchFamily="34" charset="-122"/>
                <a:cs typeface="Calibri" pitchFamily="34" charset="-120"/>
              </a:rPr>
              <a:t>50% FTC</a:t>
            </a:r>
            <a:endParaRPr lang="en-US" sz="1700" dirty="0"/>
          </a:p>
        </p:txBody>
      </p:sp>
      <p:sp>
        <p:nvSpPr>
          <p:cNvPr id="33" name="Text 31"/>
          <p:cNvSpPr txBox="1"/>
          <p:nvPr/>
        </p:nvSpPr>
        <p:spPr>
          <a:xfrm>
            <a:off x="9784080" y="2286000"/>
            <a:ext cx="2011680" cy="292608"/>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50% FTE/MGCC</a:t>
            </a:r>
            <a:endParaRPr lang="en-US" sz="1100" dirty="0"/>
          </a:p>
        </p:txBody>
      </p:sp>
      <p:sp>
        <p:nvSpPr>
          <p:cNvPr id="34" name="Text 32"/>
          <p:cNvSpPr txBox="1"/>
          <p:nvPr/>
        </p:nvSpPr>
        <p:spPr>
          <a:xfrm>
            <a:off x="457200" y="2788920"/>
            <a:ext cx="3657600" cy="320040"/>
          </a:xfrm>
          <a:prstGeom prst="rect">
            <a:avLst/>
          </a:prstGeom>
          <a:noFill/>
          <a:ln/>
        </p:spPr>
        <p:txBody>
          <a:bodyPr wrap="square" rtlCol="0" anchor="ctr"/>
          <a:lstStyle/>
          <a:p>
            <a:pPr indent="0" marL="0">
              <a:buNone/>
            </a:pPr>
            <a:r>
              <a:rPr lang="en-US" sz="1500" b="1" dirty="0">
                <a:solidFill>
                  <a:srgbClr val="1E2530"/>
                </a:solidFill>
                <a:latin typeface="Calibri" pitchFamily="34" charset="0"/>
                <a:ea typeface="Calibri" pitchFamily="34" charset="-122"/>
                <a:cs typeface="Calibri" pitchFamily="34" charset="-120"/>
              </a:rPr>
              <a:t>Assumptions</a:t>
            </a:r>
            <a:endParaRPr lang="en-US" sz="1500" dirty="0"/>
          </a:p>
        </p:txBody>
      </p:sp>
      <p:sp>
        <p:nvSpPr>
          <p:cNvPr id="35" name="Text 33"/>
          <p:cNvSpPr txBox="1"/>
          <p:nvPr/>
        </p:nvSpPr>
        <p:spPr>
          <a:xfrm>
            <a:off x="457200" y="3154680"/>
            <a:ext cx="11247120" cy="1828800"/>
          </a:xfrm>
          <a:prstGeom prst="rect">
            <a:avLst/>
          </a:prstGeom>
          <a:noFill/>
          <a:ln/>
        </p:spPr>
        <p:txBody>
          <a:bodyPr wrap="square" rtlCol="0" anchor="t"/>
          <a:lstStyle/>
          <a:p>
            <a:pPr marL="177800" indent="-177800">
              <a:lnSpc>
                <a:spcPct val="115000"/>
              </a:lnSpc>
              <a:spcAft>
                <a:spcPts val="1000"/>
              </a:spcAft>
              <a:buSzPct val="100000"/>
              <a:buChar char="•"/>
            </a:pPr>
            <a:r>
              <a:rPr lang="en-US" sz="1150" dirty="0">
                <a:solidFill>
                  <a:srgbClr val="394150"/>
                </a:solidFill>
                <a:latin typeface="Calibri" pitchFamily="34" charset="0"/>
                <a:ea typeface="Calibri" pitchFamily="34" charset="-122"/>
                <a:cs typeface="Calibri" pitchFamily="34" charset="-120"/>
              </a:rPr>
              <a:t>Each application has named primary/secondary ownership, minimum documentation, dependency map and demonstrated reverse-shadow readiness.</a:t>
            </a:r>
            <a:endParaRPr lang="en-US" sz="1150" dirty="0"/>
          </a:p>
          <a:p>
            <a:pPr marL="177800" indent="-177800">
              <a:lnSpc>
                <a:spcPct val="115000"/>
              </a:lnSpc>
              <a:spcAft>
                <a:spcPts val="1000"/>
              </a:spcAft>
              <a:buSzPct val="100000"/>
              <a:buChar char="•"/>
            </a:pPr>
            <a:r>
              <a:rPr lang="en-US" sz="1150" dirty="0">
                <a:solidFill>
                  <a:srgbClr val="394150"/>
                </a:solidFill>
                <a:latin typeface="Calibri" pitchFamily="34" charset="0"/>
                <a:ea typeface="Calibri" pitchFamily="34" charset="-122"/>
                <a:cs typeface="Calibri" pitchFamily="34" charset="-120"/>
              </a:rPr>
              <a:t>Java/JavaScript platform knowledge (GSSP, BANCA, distribution services) and VB/VB.NET desktop tooling remain protected roles through stabilization.</a:t>
            </a:r>
            <a:endParaRPr lang="en-US" sz="1150" dirty="0"/>
          </a:p>
          <a:p>
            <a:pPr marL="177800" indent="-177800">
              <a:lnSpc>
                <a:spcPct val="115000"/>
              </a:lnSpc>
              <a:spcAft>
                <a:spcPts val="1000"/>
              </a:spcAft>
              <a:buSzPct val="100000"/>
              <a:buChar char="•"/>
            </a:pPr>
            <a:r>
              <a:rPr lang="en-US" sz="1150" dirty="0">
                <a:solidFill>
                  <a:srgbClr val="394150"/>
                </a:solidFill>
                <a:latin typeface="Calibri" pitchFamily="34" charset="0"/>
                <a:ea typeface="Calibri" pitchFamily="34" charset="-122"/>
                <a:cs typeface="Calibri" pitchFamily="34" charset="-120"/>
              </a:rPr>
              <a:t>Increase intermediate/associate mix only for standardized build, test, documentation and operational tasks with automated controls and senior review. Productivity benefits offset equivalent effort only after adjusting for demand growth, modernization backlog and new applications entering scope.</a:t>
            </a:r>
            <a:endParaRPr lang="en-US" sz="1150" dirty="0"/>
          </a:p>
        </p:txBody>
      </p:sp>
      <p:sp>
        <p:nvSpPr>
          <p:cNvPr id="36" name="Shape 34"/>
          <p:cNvSpPr/>
          <p:nvPr/>
        </p:nvSpPr>
        <p:spPr>
          <a:xfrm>
            <a:off x="457200" y="5486400"/>
            <a:ext cx="11274552" cy="566928"/>
          </a:xfrm>
          <a:prstGeom prst="rect">
            <a:avLst/>
          </a:prstGeom>
          <a:solidFill>
            <a:srgbClr val="1E2530"/>
          </a:solidFill>
          <a:ln/>
        </p:spPr>
      </p:sp>
      <p:sp>
        <p:nvSpPr>
          <p:cNvPr id="37" name="Text 35"/>
          <p:cNvSpPr txBox="1"/>
          <p:nvPr/>
        </p:nvSpPr>
        <p:spPr>
          <a:xfrm>
            <a:off x="640080" y="5486400"/>
            <a:ext cx="10908792" cy="566928"/>
          </a:xfrm>
          <a:prstGeom prst="rect">
            <a:avLst/>
          </a:prstGeom>
          <a:noFill/>
          <a:ln/>
        </p:spPr>
        <p:txBody>
          <a:bodyPr wrap="square" rtlCol="0" anchor="ctr"/>
          <a:lstStyle/>
          <a:p>
            <a:pPr algn="ctr" indent="0" marL="0">
              <a:lnSpc>
                <a:spcPct val="110000"/>
              </a:lnSpc>
              <a:buNone/>
            </a:pPr>
            <a:r>
              <a:rPr lang="en-US" sz="1100" b="1" dirty="0">
                <a:solidFill>
                  <a:srgbClr val="FFFFFF"/>
                </a:solidFill>
                <a:latin typeface="Calibri" pitchFamily="34" charset="0"/>
                <a:ea typeface="Calibri" pitchFamily="34" charset="-122"/>
                <a:cs typeface="Calibri" pitchFamily="34" charset="-120"/>
              </a:rPr>
              <a:t>Commitment framing: agree the baseline in transition, lock Year-1 outcomes contractually, and refresh Years 2–5 annually through joint governance using verified demand, KPI and automation evidence.</a:t>
            </a:r>
            <a:endParaRPr lang="en-US" sz="1100" dirty="0"/>
          </a:p>
        </p:txBody>
      </p:sp>
      <p:sp>
        <p:nvSpPr>
          <p:cNvPr id="38" name="Text 36"/>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39" name="Text 37"/>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40" name="Text 38"/>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400" b="1" dirty="0">
                <a:solidFill>
                  <a:srgbClr val="1E2530"/>
                </a:solidFill>
                <a:latin typeface="Calibri" pitchFamily="34" charset="0"/>
                <a:ea typeface="Calibri" pitchFamily="34" charset="-122"/>
                <a:cs typeface="Calibri" pitchFamily="34" charset="-120"/>
              </a:rPr>
              <a:t>Role, experience and location mix: retain domain control while industrializing delivery</a:t>
            </a:r>
            <a:endParaRPr lang="en-US" sz="24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Proposed mix reuses the Contract Management planning ratios, applied to this domain's 438.714 baseline; it should be recalibrated after transition and demand validation.</a:t>
            </a:r>
            <a:endParaRPr lang="en-US" sz="1100" dirty="0"/>
          </a:p>
        </p:txBody>
      </p:sp>
      <p:sp>
        <p:nvSpPr>
          <p:cNvPr id="5" name="Text 3"/>
          <p:cNvSpPr txBox="1"/>
          <p:nvPr/>
        </p:nvSpPr>
        <p:spPr>
          <a:xfrm>
            <a:off x="457200" y="1234440"/>
            <a:ext cx="5486400" cy="292608"/>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Indicative Day-1 role mix</a:t>
            </a:r>
            <a:endParaRPr lang="en-US" sz="1400" dirty="0"/>
          </a:p>
        </p:txBody>
      </p:sp>
      <p:sp>
        <p:nvSpPr>
          <p:cNvPr id="6" name="Text 4"/>
          <p:cNvSpPr txBox="1"/>
          <p:nvPr/>
        </p:nvSpPr>
        <p:spPr>
          <a:xfrm>
            <a:off x="457200" y="1627632"/>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BA / BSA / Domain SME</a:t>
            </a:r>
            <a:endParaRPr lang="en-US" sz="1000" dirty="0"/>
          </a:p>
        </p:txBody>
      </p:sp>
      <p:sp>
        <p:nvSpPr>
          <p:cNvPr id="7" name="Shape 5"/>
          <p:cNvSpPr/>
          <p:nvPr/>
        </p:nvSpPr>
        <p:spPr>
          <a:xfrm>
            <a:off x="2423160" y="1719072"/>
            <a:ext cx="1054750" cy="292608"/>
          </a:xfrm>
          <a:prstGeom prst="rect">
            <a:avLst/>
          </a:prstGeom>
          <a:solidFill>
            <a:srgbClr val="1E7FB8"/>
          </a:solidFill>
          <a:ln/>
        </p:spPr>
      </p:sp>
      <p:sp>
        <p:nvSpPr>
          <p:cNvPr id="8" name="Text 6"/>
          <p:cNvSpPr txBox="1"/>
          <p:nvPr/>
        </p:nvSpPr>
        <p:spPr>
          <a:xfrm>
            <a:off x="3569350" y="1627632"/>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16% | 70.2</a:t>
            </a:r>
            <a:endParaRPr lang="en-US" sz="950" dirty="0"/>
          </a:p>
        </p:txBody>
      </p:sp>
      <p:sp>
        <p:nvSpPr>
          <p:cNvPr id="9" name="Text 7"/>
          <p:cNvSpPr txBox="1"/>
          <p:nvPr/>
        </p:nvSpPr>
        <p:spPr>
          <a:xfrm>
            <a:off x="457200" y="2194560"/>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Developers / Tech Leads</a:t>
            </a:r>
            <a:endParaRPr lang="en-US" sz="1000" dirty="0"/>
          </a:p>
        </p:txBody>
      </p:sp>
      <p:sp>
        <p:nvSpPr>
          <p:cNvPr id="10" name="Shape 8"/>
          <p:cNvSpPr/>
          <p:nvPr/>
        </p:nvSpPr>
        <p:spPr>
          <a:xfrm>
            <a:off x="2423160" y="2286000"/>
            <a:ext cx="2834640" cy="292608"/>
          </a:xfrm>
          <a:prstGeom prst="rect">
            <a:avLst/>
          </a:prstGeom>
          <a:solidFill>
            <a:srgbClr val="1E7FB8"/>
          </a:solidFill>
          <a:ln/>
        </p:spPr>
      </p:sp>
      <p:sp>
        <p:nvSpPr>
          <p:cNvPr id="11" name="Text 9"/>
          <p:cNvSpPr txBox="1"/>
          <p:nvPr/>
        </p:nvSpPr>
        <p:spPr>
          <a:xfrm>
            <a:off x="5349240" y="2194560"/>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43% | 188.6</a:t>
            </a:r>
            <a:endParaRPr lang="en-US" sz="950" dirty="0"/>
          </a:p>
        </p:txBody>
      </p:sp>
      <p:sp>
        <p:nvSpPr>
          <p:cNvPr id="12" name="Text 10"/>
          <p:cNvSpPr txBox="1"/>
          <p:nvPr/>
        </p:nvSpPr>
        <p:spPr>
          <a:xfrm>
            <a:off x="457200" y="2761488"/>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QA / Automation</a:t>
            </a:r>
            <a:endParaRPr lang="en-US" sz="1000" dirty="0"/>
          </a:p>
        </p:txBody>
      </p:sp>
      <p:sp>
        <p:nvSpPr>
          <p:cNvPr id="13" name="Shape 11"/>
          <p:cNvSpPr/>
          <p:nvPr/>
        </p:nvSpPr>
        <p:spPr>
          <a:xfrm>
            <a:off x="2423160" y="2852928"/>
            <a:ext cx="1120672" cy="292608"/>
          </a:xfrm>
          <a:prstGeom prst="rect">
            <a:avLst/>
          </a:prstGeom>
          <a:solidFill>
            <a:srgbClr val="1E7FB8"/>
          </a:solidFill>
          <a:ln/>
        </p:spPr>
      </p:sp>
      <p:sp>
        <p:nvSpPr>
          <p:cNvPr id="14" name="Text 12"/>
          <p:cNvSpPr txBox="1"/>
          <p:nvPr/>
        </p:nvSpPr>
        <p:spPr>
          <a:xfrm>
            <a:off x="3635272" y="2761488"/>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17% | 74.6</a:t>
            </a:r>
            <a:endParaRPr lang="en-US" sz="950" dirty="0"/>
          </a:p>
        </p:txBody>
      </p:sp>
      <p:sp>
        <p:nvSpPr>
          <p:cNvPr id="15" name="Text 13"/>
          <p:cNvSpPr txBox="1"/>
          <p:nvPr/>
        </p:nvSpPr>
        <p:spPr>
          <a:xfrm>
            <a:off x="457200" y="3328416"/>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Operations / App Service</a:t>
            </a:r>
            <a:endParaRPr lang="en-US" sz="1000" dirty="0"/>
          </a:p>
        </p:txBody>
      </p:sp>
      <p:sp>
        <p:nvSpPr>
          <p:cNvPr id="16" name="Shape 14"/>
          <p:cNvSpPr/>
          <p:nvPr/>
        </p:nvSpPr>
        <p:spPr>
          <a:xfrm>
            <a:off x="2423160" y="3419856"/>
            <a:ext cx="791062" cy="292608"/>
          </a:xfrm>
          <a:prstGeom prst="rect">
            <a:avLst/>
          </a:prstGeom>
          <a:solidFill>
            <a:srgbClr val="1E7FB8"/>
          </a:solidFill>
          <a:ln/>
        </p:spPr>
      </p:sp>
      <p:sp>
        <p:nvSpPr>
          <p:cNvPr id="17" name="Text 15"/>
          <p:cNvSpPr txBox="1"/>
          <p:nvPr/>
        </p:nvSpPr>
        <p:spPr>
          <a:xfrm>
            <a:off x="3305662" y="3328416"/>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12% | 52.6</a:t>
            </a:r>
            <a:endParaRPr lang="en-US" sz="950" dirty="0"/>
          </a:p>
        </p:txBody>
      </p:sp>
      <p:sp>
        <p:nvSpPr>
          <p:cNvPr id="18" name="Text 16"/>
          <p:cNvSpPr txBox="1"/>
          <p:nvPr/>
        </p:nvSpPr>
        <p:spPr>
          <a:xfrm>
            <a:off x="457200" y="3895344"/>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Architecture / DevOps</a:t>
            </a:r>
            <a:endParaRPr lang="en-US" sz="1000" dirty="0"/>
          </a:p>
        </p:txBody>
      </p:sp>
      <p:sp>
        <p:nvSpPr>
          <p:cNvPr id="19" name="Shape 17"/>
          <p:cNvSpPr/>
          <p:nvPr/>
        </p:nvSpPr>
        <p:spPr>
          <a:xfrm>
            <a:off x="2423160" y="3986784"/>
            <a:ext cx="461453" cy="292608"/>
          </a:xfrm>
          <a:prstGeom prst="rect">
            <a:avLst/>
          </a:prstGeom>
          <a:solidFill>
            <a:srgbClr val="1E7FB8"/>
          </a:solidFill>
          <a:ln/>
        </p:spPr>
      </p:sp>
      <p:sp>
        <p:nvSpPr>
          <p:cNvPr id="20" name="Text 18"/>
          <p:cNvSpPr txBox="1"/>
          <p:nvPr/>
        </p:nvSpPr>
        <p:spPr>
          <a:xfrm>
            <a:off x="2976053" y="3895344"/>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7% | 30.7</a:t>
            </a:r>
            <a:endParaRPr lang="en-US" sz="950" dirty="0"/>
          </a:p>
        </p:txBody>
      </p:sp>
      <p:sp>
        <p:nvSpPr>
          <p:cNvPr id="21" name="Text 19"/>
          <p:cNvSpPr txBox="1"/>
          <p:nvPr/>
        </p:nvSpPr>
        <p:spPr>
          <a:xfrm>
            <a:off x="457200" y="4462272"/>
            <a:ext cx="1874520" cy="475488"/>
          </a:xfrm>
          <a:prstGeom prst="rect">
            <a:avLst/>
          </a:prstGeom>
          <a:noFill/>
          <a:ln/>
        </p:spPr>
        <p:txBody>
          <a:bodyPr wrap="square" rtlCol="0" anchor="ctr"/>
          <a:lstStyle/>
          <a:p>
            <a:pPr indent="0" marL="0">
              <a:buNone/>
            </a:pPr>
            <a:r>
              <a:rPr lang="en-US" sz="1000" dirty="0">
                <a:solidFill>
                  <a:srgbClr val="394150"/>
                </a:solidFill>
                <a:latin typeface="Calibri" pitchFamily="34" charset="0"/>
                <a:ea typeface="Calibri" pitchFamily="34" charset="-122"/>
                <a:cs typeface="Calibri" pitchFamily="34" charset="-120"/>
              </a:rPr>
              <a:t>Delivery / Governance</a:t>
            </a:r>
            <a:endParaRPr lang="en-US" sz="1000" dirty="0"/>
          </a:p>
        </p:txBody>
      </p:sp>
      <p:sp>
        <p:nvSpPr>
          <p:cNvPr id="22" name="Shape 20"/>
          <p:cNvSpPr/>
          <p:nvPr/>
        </p:nvSpPr>
        <p:spPr>
          <a:xfrm>
            <a:off x="2423160" y="4553712"/>
            <a:ext cx="329609" cy="292608"/>
          </a:xfrm>
          <a:prstGeom prst="rect">
            <a:avLst/>
          </a:prstGeom>
          <a:solidFill>
            <a:srgbClr val="1E7FB8"/>
          </a:solidFill>
          <a:ln/>
        </p:spPr>
      </p:sp>
      <p:sp>
        <p:nvSpPr>
          <p:cNvPr id="23" name="Text 21"/>
          <p:cNvSpPr txBox="1"/>
          <p:nvPr/>
        </p:nvSpPr>
        <p:spPr>
          <a:xfrm>
            <a:off x="2844209" y="4462272"/>
            <a:ext cx="1188720" cy="475488"/>
          </a:xfrm>
          <a:prstGeom prst="rect">
            <a:avLst/>
          </a:prstGeom>
          <a:noFill/>
          <a:ln/>
        </p:spPr>
        <p:txBody>
          <a:bodyPr wrap="square" rtlCol="0" anchor="ctr"/>
          <a:lstStyle/>
          <a:p>
            <a:pPr indent="0" marL="0">
              <a:buNone/>
            </a:pPr>
            <a:r>
              <a:rPr lang="en-US" sz="950" b="1" dirty="0">
                <a:solidFill>
                  <a:srgbClr val="1E2530"/>
                </a:solidFill>
                <a:latin typeface="Calibri" pitchFamily="34" charset="0"/>
                <a:ea typeface="Calibri" pitchFamily="34" charset="-122"/>
                <a:cs typeface="Calibri" pitchFamily="34" charset="-120"/>
              </a:rPr>
              <a:t>5% | 21.9</a:t>
            </a:r>
            <a:endParaRPr lang="en-US" sz="950" dirty="0"/>
          </a:p>
        </p:txBody>
      </p:sp>
      <p:sp>
        <p:nvSpPr>
          <p:cNvPr id="24" name="Text 22"/>
          <p:cNvSpPr txBox="1"/>
          <p:nvPr/>
        </p:nvSpPr>
        <p:spPr>
          <a:xfrm>
            <a:off x="7086600" y="1234440"/>
            <a:ext cx="4572000" cy="292608"/>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Experience pyramid</a:t>
            </a:r>
            <a:endParaRPr lang="en-US" sz="1400" dirty="0"/>
          </a:p>
        </p:txBody>
      </p:sp>
      <p:sp>
        <p:nvSpPr>
          <p:cNvPr id="25" name="Shape 23"/>
          <p:cNvSpPr/>
          <p:nvPr/>
        </p:nvSpPr>
        <p:spPr>
          <a:xfrm>
            <a:off x="8084439" y="1691640"/>
            <a:ext cx="2439162" cy="566928"/>
          </a:xfrm>
          <a:prstGeom prst="chevron">
            <a:avLst/>
          </a:prstGeom>
          <a:solidFill>
            <a:srgbClr val="1E2530"/>
          </a:solidFill>
          <a:ln/>
        </p:spPr>
      </p:sp>
      <p:sp>
        <p:nvSpPr>
          <p:cNvPr id="26" name="Text 24"/>
          <p:cNvSpPr txBox="1"/>
          <p:nvPr/>
        </p:nvSpPr>
        <p:spPr>
          <a:xfrm>
            <a:off x="8084439" y="1691640"/>
            <a:ext cx="2439162" cy="56692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Expert | 12+ years • 10% | 43.9</a:t>
            </a:r>
            <a:endParaRPr lang="en-US" sz="1000" dirty="0"/>
          </a:p>
        </p:txBody>
      </p:sp>
      <p:sp>
        <p:nvSpPr>
          <p:cNvPr id="27" name="Shape 25"/>
          <p:cNvSpPr/>
          <p:nvPr/>
        </p:nvSpPr>
        <p:spPr>
          <a:xfrm>
            <a:off x="7640955" y="2350008"/>
            <a:ext cx="3326130" cy="566928"/>
          </a:xfrm>
          <a:prstGeom prst="chevron">
            <a:avLst/>
          </a:prstGeom>
          <a:solidFill>
            <a:srgbClr val="173A5E"/>
          </a:solidFill>
          <a:ln/>
        </p:spPr>
      </p:sp>
      <p:sp>
        <p:nvSpPr>
          <p:cNvPr id="28" name="Text 26"/>
          <p:cNvSpPr txBox="1"/>
          <p:nvPr/>
        </p:nvSpPr>
        <p:spPr>
          <a:xfrm>
            <a:off x="7640955" y="2350008"/>
            <a:ext cx="3326130" cy="56692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Senior | 8-12 years • 35% | 153.5</a:t>
            </a:r>
            <a:endParaRPr lang="en-US" sz="1000" dirty="0"/>
          </a:p>
        </p:txBody>
      </p:sp>
      <p:sp>
        <p:nvSpPr>
          <p:cNvPr id="29" name="Shape 27"/>
          <p:cNvSpPr/>
          <p:nvPr/>
        </p:nvSpPr>
        <p:spPr>
          <a:xfrm>
            <a:off x="7263994" y="3008376"/>
            <a:ext cx="4080053" cy="566928"/>
          </a:xfrm>
          <a:prstGeom prst="chevron">
            <a:avLst/>
          </a:prstGeom>
          <a:solidFill>
            <a:srgbClr val="1E7FB8"/>
          </a:solidFill>
          <a:ln/>
        </p:spPr>
      </p:sp>
      <p:sp>
        <p:nvSpPr>
          <p:cNvPr id="30" name="Text 28"/>
          <p:cNvSpPr txBox="1"/>
          <p:nvPr/>
        </p:nvSpPr>
        <p:spPr>
          <a:xfrm>
            <a:off x="7263994" y="3008376"/>
            <a:ext cx="4080053" cy="56692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Intermediate | 4-8 years • 40% | 175.5</a:t>
            </a:r>
            <a:endParaRPr lang="en-US" sz="1000" dirty="0"/>
          </a:p>
        </p:txBody>
      </p:sp>
      <p:sp>
        <p:nvSpPr>
          <p:cNvPr id="31" name="Shape 29"/>
          <p:cNvSpPr/>
          <p:nvPr/>
        </p:nvSpPr>
        <p:spPr>
          <a:xfrm>
            <a:off x="7086600" y="3666744"/>
            <a:ext cx="4434840" cy="566928"/>
          </a:xfrm>
          <a:prstGeom prst="chevron">
            <a:avLst/>
          </a:prstGeom>
          <a:solidFill>
            <a:srgbClr val="AAB2C0"/>
          </a:solidFill>
          <a:ln/>
        </p:spPr>
      </p:sp>
      <p:sp>
        <p:nvSpPr>
          <p:cNvPr id="32" name="Text 30"/>
          <p:cNvSpPr txBox="1"/>
          <p:nvPr/>
        </p:nvSpPr>
        <p:spPr>
          <a:xfrm>
            <a:off x="7086600" y="3666744"/>
            <a:ext cx="4434840" cy="56692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Beginner | 2-4 years • 15% | 65.8</a:t>
            </a:r>
            <a:endParaRPr lang="en-US" sz="1000" dirty="0"/>
          </a:p>
        </p:txBody>
      </p:sp>
      <p:sp>
        <p:nvSpPr>
          <p:cNvPr id="33" name="Text 31"/>
          <p:cNvSpPr txBox="1"/>
          <p:nvPr/>
        </p:nvSpPr>
        <p:spPr>
          <a:xfrm>
            <a:off x="457200" y="5074920"/>
            <a:ext cx="5486400" cy="292608"/>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Location and language assignment</a:t>
            </a:r>
            <a:endParaRPr lang="en-US" sz="1400" dirty="0"/>
          </a:p>
        </p:txBody>
      </p:sp>
      <p:sp>
        <p:nvSpPr>
          <p:cNvPr id="34" name="Shape 32"/>
          <p:cNvSpPr/>
          <p:nvPr/>
        </p:nvSpPr>
        <p:spPr>
          <a:xfrm>
            <a:off x="457200" y="5440680"/>
            <a:ext cx="3611880" cy="1143000"/>
          </a:xfrm>
          <a:prstGeom prst="rect">
            <a:avLst/>
          </a:prstGeom>
          <a:solidFill>
            <a:srgbClr val="F5F6F8"/>
          </a:solidFill>
          <a:ln w="12700">
            <a:solidFill>
              <a:srgbClr val="E1E6ED"/>
            </a:solidFill>
            <a:prstDash val="solid"/>
          </a:ln>
        </p:spPr>
      </p:sp>
      <p:sp>
        <p:nvSpPr>
          <p:cNvPr id="35" name="Shape 33"/>
          <p:cNvSpPr/>
          <p:nvPr/>
        </p:nvSpPr>
        <p:spPr>
          <a:xfrm>
            <a:off x="457200" y="5440680"/>
            <a:ext cx="54864" cy="1143000"/>
          </a:xfrm>
          <a:prstGeom prst="rect">
            <a:avLst/>
          </a:prstGeom>
          <a:solidFill>
            <a:srgbClr val="173A5E"/>
          </a:solidFill>
          <a:ln/>
        </p:spPr>
      </p:sp>
      <p:sp>
        <p:nvSpPr>
          <p:cNvPr id="36" name="Text 34"/>
          <p:cNvSpPr txBox="1"/>
          <p:nvPr/>
        </p:nvSpPr>
        <p:spPr>
          <a:xfrm>
            <a:off x="640080" y="5532120"/>
            <a:ext cx="3291840" cy="237744"/>
          </a:xfrm>
          <a:prstGeom prst="rect">
            <a:avLst/>
          </a:prstGeom>
          <a:noFill/>
          <a:ln/>
        </p:spPr>
        <p:txBody>
          <a:bodyPr wrap="square" rtlCol="0" anchor="ctr"/>
          <a:lstStyle/>
          <a:p>
            <a:pPr indent="0" marL="0">
              <a:buNone/>
            </a:pPr>
            <a:r>
              <a:rPr lang="en-US" sz="1050" b="1" dirty="0">
                <a:solidFill>
                  <a:srgbClr val="1E2530"/>
                </a:solidFill>
                <a:latin typeface="Calibri" pitchFamily="34" charset="0"/>
                <a:ea typeface="Calibri" pitchFamily="34" charset="-122"/>
                <a:cs typeface="Calibri" pitchFamily="34" charset="-120"/>
              </a:rPr>
              <a:t>Japan client-facing layer</a:t>
            </a:r>
            <a:endParaRPr lang="en-US" sz="1050" dirty="0"/>
          </a:p>
        </p:txBody>
      </p:sp>
      <p:sp>
        <p:nvSpPr>
          <p:cNvPr id="37" name="Text 35"/>
          <p:cNvSpPr txBox="1"/>
          <p:nvPr/>
        </p:nvSpPr>
        <p:spPr>
          <a:xfrm>
            <a:off x="640080" y="5769864"/>
            <a:ext cx="3291840" cy="219456"/>
          </a:xfrm>
          <a:prstGeom prst="rect">
            <a:avLst/>
          </a:prstGeom>
          <a:noFill/>
          <a:ln/>
        </p:spPr>
        <p:txBody>
          <a:bodyPr wrap="square" rtlCol="0" anchor="ctr"/>
          <a:lstStyle/>
          <a:p>
            <a:pPr indent="0" marL="0">
              <a:buNone/>
            </a:pPr>
            <a:r>
              <a:rPr lang="en-US" sz="900" b="1" dirty="0">
                <a:solidFill>
                  <a:srgbClr val="1E7FB8"/>
                </a:solidFill>
                <a:latin typeface="Calibri" pitchFamily="34" charset="0"/>
                <a:ea typeface="Calibri" pitchFamily="34" charset="-122"/>
                <a:cs typeface="Calibri" pitchFamily="34" charset="-120"/>
              </a:rPr>
              <a:t>Tokyo / Kobe / Osaka | 25% | 109.7</a:t>
            </a:r>
            <a:endParaRPr lang="en-US" sz="900" dirty="0"/>
          </a:p>
        </p:txBody>
      </p:sp>
      <p:sp>
        <p:nvSpPr>
          <p:cNvPr id="38" name="Text 36"/>
          <p:cNvSpPr txBox="1"/>
          <p:nvPr/>
        </p:nvSpPr>
        <p:spPr>
          <a:xfrm>
            <a:off x="640080" y="6007608"/>
            <a:ext cx="3291840" cy="521208"/>
          </a:xfrm>
          <a:prstGeom prst="rect">
            <a:avLst/>
          </a:prstGeom>
          <a:noFill/>
          <a:ln/>
        </p:spPr>
        <p:txBody>
          <a:bodyPr wrap="square" rtlCol="0" anchor="t"/>
          <a:lstStyle/>
          <a:p>
            <a:pPr indent="0" marL="0">
              <a:lnSpc>
                <a:spcPct val="110000"/>
              </a:lnSpc>
              <a:buNone/>
            </a:pPr>
            <a:r>
              <a:rPr lang="en-US" sz="800" dirty="0">
                <a:solidFill>
                  <a:srgbClr val="6B7280"/>
                </a:solidFill>
                <a:latin typeface="Calibri" pitchFamily="34" charset="0"/>
                <a:ea typeface="Calibri" pitchFamily="34" charset="-122"/>
                <a:cs typeface="Calibri" pitchFamily="34" charset="-120"/>
              </a:rPr>
              <a:t>Domain owner interface, BA/BSA, governance, critical incidents, release coordination. Native/N2+ for client-facing roles.</a:t>
            </a:r>
            <a:endParaRPr lang="en-US" sz="800" dirty="0"/>
          </a:p>
        </p:txBody>
      </p:sp>
      <p:sp>
        <p:nvSpPr>
          <p:cNvPr id="39" name="Shape 37"/>
          <p:cNvSpPr/>
          <p:nvPr/>
        </p:nvSpPr>
        <p:spPr>
          <a:xfrm>
            <a:off x="4288536" y="5440680"/>
            <a:ext cx="3611880" cy="1143000"/>
          </a:xfrm>
          <a:prstGeom prst="rect">
            <a:avLst/>
          </a:prstGeom>
          <a:solidFill>
            <a:srgbClr val="F5F6F8"/>
          </a:solidFill>
          <a:ln w="12700">
            <a:solidFill>
              <a:srgbClr val="E1E6ED"/>
            </a:solidFill>
            <a:prstDash val="solid"/>
          </a:ln>
        </p:spPr>
      </p:sp>
      <p:sp>
        <p:nvSpPr>
          <p:cNvPr id="40" name="Shape 38"/>
          <p:cNvSpPr/>
          <p:nvPr/>
        </p:nvSpPr>
        <p:spPr>
          <a:xfrm>
            <a:off x="4288536" y="5440680"/>
            <a:ext cx="54864" cy="1143000"/>
          </a:xfrm>
          <a:prstGeom prst="rect">
            <a:avLst/>
          </a:prstGeom>
          <a:solidFill>
            <a:srgbClr val="1E9E8E"/>
          </a:solidFill>
          <a:ln/>
        </p:spPr>
      </p:sp>
      <p:sp>
        <p:nvSpPr>
          <p:cNvPr id="41" name="Text 39"/>
          <p:cNvSpPr txBox="1"/>
          <p:nvPr/>
        </p:nvSpPr>
        <p:spPr>
          <a:xfrm>
            <a:off x="4471416" y="5532120"/>
            <a:ext cx="3291840" cy="237744"/>
          </a:xfrm>
          <a:prstGeom prst="rect">
            <a:avLst/>
          </a:prstGeom>
          <a:noFill/>
          <a:ln/>
        </p:spPr>
        <p:txBody>
          <a:bodyPr wrap="square" rtlCol="0" anchor="ctr"/>
          <a:lstStyle/>
          <a:p>
            <a:pPr indent="0" marL="0">
              <a:buNone/>
            </a:pPr>
            <a:r>
              <a:rPr lang="en-US" sz="1050" b="1" dirty="0">
                <a:solidFill>
                  <a:srgbClr val="1E2530"/>
                </a:solidFill>
                <a:latin typeface="Calibri" pitchFamily="34" charset="0"/>
                <a:ea typeface="Calibri" pitchFamily="34" charset="-122"/>
                <a:cs typeface="Calibri" pitchFamily="34" charset="-120"/>
              </a:rPr>
              <a:t>Global delivery layer</a:t>
            </a:r>
            <a:endParaRPr lang="en-US" sz="1050" dirty="0"/>
          </a:p>
        </p:txBody>
      </p:sp>
      <p:sp>
        <p:nvSpPr>
          <p:cNvPr id="42" name="Text 40"/>
          <p:cNvSpPr txBox="1"/>
          <p:nvPr/>
        </p:nvSpPr>
        <p:spPr>
          <a:xfrm>
            <a:off x="4471416" y="5769864"/>
            <a:ext cx="3291840" cy="219456"/>
          </a:xfrm>
          <a:prstGeom prst="rect">
            <a:avLst/>
          </a:prstGeom>
          <a:noFill/>
          <a:ln/>
        </p:spPr>
        <p:txBody>
          <a:bodyPr wrap="square" rtlCol="0" anchor="ctr"/>
          <a:lstStyle/>
          <a:p>
            <a:pPr indent="0" marL="0">
              <a:buNone/>
            </a:pPr>
            <a:r>
              <a:rPr lang="en-US" sz="900" b="1" dirty="0">
                <a:solidFill>
                  <a:srgbClr val="1E7FB8"/>
                </a:solidFill>
                <a:latin typeface="Calibri" pitchFamily="34" charset="0"/>
                <a:ea typeface="Calibri" pitchFamily="34" charset="-122"/>
                <a:cs typeface="Calibri" pitchFamily="34" charset="-120"/>
              </a:rPr>
              <a:t>India delivery centers | 70% | 307.1</a:t>
            </a:r>
            <a:endParaRPr lang="en-US" sz="900" dirty="0"/>
          </a:p>
        </p:txBody>
      </p:sp>
      <p:sp>
        <p:nvSpPr>
          <p:cNvPr id="43" name="Text 41"/>
          <p:cNvSpPr txBox="1"/>
          <p:nvPr/>
        </p:nvSpPr>
        <p:spPr>
          <a:xfrm>
            <a:off x="4471416" y="6007608"/>
            <a:ext cx="3291840" cy="521208"/>
          </a:xfrm>
          <a:prstGeom prst="rect">
            <a:avLst/>
          </a:prstGeom>
          <a:noFill/>
          <a:ln/>
        </p:spPr>
        <p:txBody>
          <a:bodyPr wrap="square" rtlCol="0" anchor="t"/>
          <a:lstStyle/>
          <a:p>
            <a:pPr indent="0" marL="0">
              <a:lnSpc>
                <a:spcPct val="110000"/>
              </a:lnSpc>
              <a:buNone/>
            </a:pPr>
            <a:r>
              <a:rPr lang="en-US" sz="800" dirty="0">
                <a:solidFill>
                  <a:srgbClr val="6B7280"/>
                </a:solidFill>
                <a:latin typeface="Calibri" pitchFamily="34" charset="0"/>
                <a:ea typeface="Calibri" pitchFamily="34" charset="-122"/>
                <a:cs typeface="Calibri" pitchFamily="34" charset="-120"/>
              </a:rPr>
              <a:t>Development, test automation, documentation, DevSecOps, L2/L3 analysis. English plus planned N3/N4 bridge.</a:t>
            </a:r>
            <a:endParaRPr lang="en-US" sz="800" dirty="0"/>
          </a:p>
        </p:txBody>
      </p:sp>
      <p:sp>
        <p:nvSpPr>
          <p:cNvPr id="44" name="Shape 42"/>
          <p:cNvSpPr/>
          <p:nvPr/>
        </p:nvSpPr>
        <p:spPr>
          <a:xfrm>
            <a:off x="8119872" y="5440680"/>
            <a:ext cx="3611880" cy="1143000"/>
          </a:xfrm>
          <a:prstGeom prst="rect">
            <a:avLst/>
          </a:prstGeom>
          <a:solidFill>
            <a:srgbClr val="F5F6F8"/>
          </a:solidFill>
          <a:ln w="12700">
            <a:solidFill>
              <a:srgbClr val="E1E6ED"/>
            </a:solidFill>
            <a:prstDash val="solid"/>
          </a:ln>
        </p:spPr>
      </p:sp>
      <p:sp>
        <p:nvSpPr>
          <p:cNvPr id="45" name="Shape 43"/>
          <p:cNvSpPr/>
          <p:nvPr/>
        </p:nvSpPr>
        <p:spPr>
          <a:xfrm>
            <a:off x="8119872" y="5440680"/>
            <a:ext cx="54864" cy="1143000"/>
          </a:xfrm>
          <a:prstGeom prst="rect">
            <a:avLst/>
          </a:prstGeom>
          <a:solidFill>
            <a:srgbClr val="173A5E"/>
          </a:solidFill>
          <a:ln/>
        </p:spPr>
      </p:sp>
      <p:sp>
        <p:nvSpPr>
          <p:cNvPr id="46" name="Text 44"/>
          <p:cNvSpPr txBox="1"/>
          <p:nvPr/>
        </p:nvSpPr>
        <p:spPr>
          <a:xfrm>
            <a:off x="8302752" y="5532120"/>
            <a:ext cx="3291840" cy="237744"/>
          </a:xfrm>
          <a:prstGeom prst="rect">
            <a:avLst/>
          </a:prstGeom>
          <a:noFill/>
          <a:ln/>
        </p:spPr>
        <p:txBody>
          <a:bodyPr wrap="square" rtlCol="0" anchor="ctr"/>
          <a:lstStyle/>
          <a:p>
            <a:pPr indent="0" marL="0">
              <a:buNone/>
            </a:pPr>
            <a:r>
              <a:rPr lang="en-US" sz="1050" b="1" dirty="0">
                <a:solidFill>
                  <a:srgbClr val="1E2530"/>
                </a:solidFill>
                <a:latin typeface="Calibri" pitchFamily="34" charset="0"/>
                <a:ea typeface="Calibri" pitchFamily="34" charset="-122"/>
                <a:cs typeface="Calibri" pitchFamily="34" charset="-120"/>
              </a:rPr>
              <a:t>Resilience layer</a:t>
            </a:r>
            <a:endParaRPr lang="en-US" sz="1050" dirty="0"/>
          </a:p>
        </p:txBody>
      </p:sp>
      <p:sp>
        <p:nvSpPr>
          <p:cNvPr id="47" name="Text 45"/>
          <p:cNvSpPr txBox="1"/>
          <p:nvPr/>
        </p:nvSpPr>
        <p:spPr>
          <a:xfrm>
            <a:off x="8302752" y="5769864"/>
            <a:ext cx="3291840" cy="219456"/>
          </a:xfrm>
          <a:prstGeom prst="rect">
            <a:avLst/>
          </a:prstGeom>
          <a:noFill/>
          <a:ln/>
        </p:spPr>
        <p:txBody>
          <a:bodyPr wrap="square" rtlCol="0" anchor="ctr"/>
          <a:lstStyle/>
          <a:p>
            <a:pPr indent="0" marL="0">
              <a:buNone/>
            </a:pPr>
            <a:r>
              <a:rPr lang="en-US" sz="900" b="1" dirty="0">
                <a:solidFill>
                  <a:srgbClr val="1E7FB8"/>
                </a:solidFill>
                <a:latin typeface="Calibri" pitchFamily="34" charset="0"/>
                <a:ea typeface="Calibri" pitchFamily="34" charset="-122"/>
                <a:cs typeface="Calibri" pitchFamily="34" charset="-120"/>
              </a:rPr>
              <a:t>Multi-location backup | 5% | 21.9</a:t>
            </a:r>
            <a:endParaRPr lang="en-US" sz="900" dirty="0"/>
          </a:p>
        </p:txBody>
      </p:sp>
      <p:sp>
        <p:nvSpPr>
          <p:cNvPr id="48" name="Text 46"/>
          <p:cNvSpPr txBox="1"/>
          <p:nvPr/>
        </p:nvSpPr>
        <p:spPr>
          <a:xfrm>
            <a:off x="8302752" y="6007608"/>
            <a:ext cx="3291840" cy="521208"/>
          </a:xfrm>
          <a:prstGeom prst="rect">
            <a:avLst/>
          </a:prstGeom>
          <a:noFill/>
          <a:ln/>
        </p:spPr>
        <p:txBody>
          <a:bodyPr wrap="square" rtlCol="0" anchor="t"/>
          <a:lstStyle/>
          <a:p>
            <a:pPr indent="0" marL="0">
              <a:lnSpc>
                <a:spcPct val="110000"/>
              </a:lnSpc>
              <a:buNone/>
            </a:pPr>
            <a:r>
              <a:rPr lang="en-US" sz="800" dirty="0">
                <a:solidFill>
                  <a:srgbClr val="6B7280"/>
                </a:solidFill>
                <a:latin typeface="Calibri" pitchFamily="34" charset="0"/>
                <a:ea typeface="Calibri" pitchFamily="34" charset="-122"/>
                <a:cs typeface="Calibri" pitchFamily="34" charset="-120"/>
              </a:rPr>
              <a:t>Cross-trained application pairs, BCP coverage and controlled capacity flex. Bilingual escalation path.</a:t>
            </a:r>
            <a:endParaRPr lang="en-US" sz="800" dirty="0"/>
          </a:p>
        </p:txBody>
      </p:sp>
      <p:sp>
        <p:nvSpPr>
          <p:cNvPr id="49" name="Text 47"/>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50" name="Text 48"/>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51" name="Text 49"/>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100" b="1" dirty="0">
                <a:solidFill>
                  <a:srgbClr val="1E2530"/>
                </a:solidFill>
                <a:latin typeface="Calibri" pitchFamily="34" charset="0"/>
                <a:ea typeface="Calibri" pitchFamily="34" charset="-122"/>
                <a:cs typeface="Calibri" pitchFamily="34" charset="-120"/>
              </a:rPr>
              <a:t>Productivity glide path: convert automation and knowledge maturity into released capacity</a:t>
            </a:r>
            <a:endParaRPr lang="en-US" sz="21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Base case uses the current 438.71 workforce as the indexed starting point. Targets are proposal assumptions to be baselined against agreed demand, quality and service levels.</a:t>
            </a:r>
            <a:endParaRPr lang="en-US" sz="1100" dirty="0"/>
          </a:p>
        </p:txBody>
      </p:sp>
      <p:sp>
        <p:nvSpPr>
          <p:cNvPr id="5" name="Shape 3"/>
          <p:cNvSpPr/>
          <p:nvPr/>
        </p:nvSpPr>
        <p:spPr>
          <a:xfrm>
            <a:off x="457200" y="1417320"/>
            <a:ext cx="11274552" cy="1280160"/>
          </a:xfrm>
          <a:prstGeom prst="roundRect">
            <a:avLst>
              <a:gd name="adj" fmla="val 4286"/>
            </a:avLst>
          </a:prstGeom>
          <a:solidFill>
            <a:srgbClr val="F5F6F8"/>
          </a:solidFill>
          <a:ln w="12700">
            <a:solidFill>
              <a:srgbClr val="E1E6ED"/>
            </a:solidFill>
            <a:prstDash val="solid"/>
          </a:ln>
        </p:spPr>
      </p:sp>
      <p:sp>
        <p:nvSpPr>
          <p:cNvPr id="6" name="Text 4"/>
          <p:cNvSpPr txBox="1"/>
          <p:nvPr/>
        </p:nvSpPr>
        <p:spPr>
          <a:xfrm>
            <a:off x="2651760"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Day 1</a:t>
            </a:r>
            <a:endParaRPr lang="en-US" sz="1100" dirty="0"/>
          </a:p>
        </p:txBody>
      </p:sp>
      <p:sp>
        <p:nvSpPr>
          <p:cNvPr id="7" name="Text 5"/>
          <p:cNvSpPr txBox="1"/>
          <p:nvPr/>
        </p:nvSpPr>
        <p:spPr>
          <a:xfrm>
            <a:off x="4165092"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Year 1</a:t>
            </a:r>
            <a:endParaRPr lang="en-US" sz="1100" dirty="0"/>
          </a:p>
        </p:txBody>
      </p:sp>
      <p:sp>
        <p:nvSpPr>
          <p:cNvPr id="8" name="Text 6"/>
          <p:cNvSpPr txBox="1"/>
          <p:nvPr/>
        </p:nvSpPr>
        <p:spPr>
          <a:xfrm>
            <a:off x="5678424"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Year 2</a:t>
            </a:r>
            <a:endParaRPr lang="en-US" sz="1100" dirty="0"/>
          </a:p>
        </p:txBody>
      </p:sp>
      <p:sp>
        <p:nvSpPr>
          <p:cNvPr id="9" name="Text 7"/>
          <p:cNvSpPr txBox="1"/>
          <p:nvPr/>
        </p:nvSpPr>
        <p:spPr>
          <a:xfrm>
            <a:off x="7191756"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Year 3</a:t>
            </a:r>
            <a:endParaRPr lang="en-US" sz="1100" dirty="0"/>
          </a:p>
        </p:txBody>
      </p:sp>
      <p:sp>
        <p:nvSpPr>
          <p:cNvPr id="10" name="Text 8"/>
          <p:cNvSpPr txBox="1"/>
          <p:nvPr/>
        </p:nvSpPr>
        <p:spPr>
          <a:xfrm>
            <a:off x="8705088"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Year 4</a:t>
            </a:r>
            <a:endParaRPr lang="en-US" sz="1100" dirty="0"/>
          </a:p>
        </p:txBody>
      </p:sp>
      <p:sp>
        <p:nvSpPr>
          <p:cNvPr id="11" name="Text 9"/>
          <p:cNvSpPr txBox="1"/>
          <p:nvPr/>
        </p:nvSpPr>
        <p:spPr>
          <a:xfrm>
            <a:off x="10218420" y="1490472"/>
            <a:ext cx="1513332" cy="365760"/>
          </a:xfrm>
          <a:prstGeom prst="rect">
            <a:avLst/>
          </a:prstGeom>
          <a:noFill/>
          <a:ln/>
        </p:spPr>
        <p:txBody>
          <a:bodyPr wrap="square" rtlCol="0" anchor="ctr"/>
          <a:lstStyle/>
          <a:p>
            <a:pPr algn="ctr" indent="0" marL="0">
              <a:buNone/>
            </a:pPr>
            <a:r>
              <a:rPr lang="en-US" sz="1100" b="1" dirty="0">
                <a:solidFill>
                  <a:srgbClr val="394150"/>
                </a:solidFill>
                <a:latin typeface="Calibri" pitchFamily="34" charset="0"/>
                <a:ea typeface="Calibri" pitchFamily="34" charset="-122"/>
                <a:cs typeface="Calibri" pitchFamily="34" charset="-120"/>
              </a:rPr>
              <a:t>Year 5</a:t>
            </a:r>
            <a:endParaRPr lang="en-US" sz="1100" dirty="0"/>
          </a:p>
        </p:txBody>
      </p:sp>
      <p:sp>
        <p:nvSpPr>
          <p:cNvPr id="12" name="Text 10"/>
          <p:cNvSpPr txBox="1"/>
          <p:nvPr/>
        </p:nvSpPr>
        <p:spPr>
          <a:xfrm>
            <a:off x="640080" y="1828800"/>
            <a:ext cx="1920240" cy="457200"/>
          </a:xfrm>
          <a:prstGeom prst="rect">
            <a:avLst/>
          </a:prstGeom>
          <a:noFill/>
          <a:ln/>
        </p:spPr>
        <p:txBody>
          <a:bodyPr wrap="square" rtlCol="0" anchor="ctr"/>
          <a:lstStyle/>
          <a:p>
            <a:pPr indent="0" marL="0">
              <a:buNone/>
            </a:pPr>
            <a:r>
              <a:rPr lang="en-US" sz="1050" b="1" dirty="0">
                <a:solidFill>
                  <a:srgbClr val="1E2530"/>
                </a:solidFill>
                <a:latin typeface="Calibri" pitchFamily="34" charset="0"/>
                <a:ea typeface="Calibri" pitchFamily="34" charset="-122"/>
                <a:cs typeface="Calibri" pitchFamily="34" charset="-120"/>
              </a:rPr>
              <a:t>Cumulative productivity</a:t>
            </a:r>
            <a:endParaRPr lang="en-US" sz="1050" dirty="0"/>
          </a:p>
        </p:txBody>
      </p:sp>
      <p:sp>
        <p:nvSpPr>
          <p:cNvPr id="13" name="Text 11"/>
          <p:cNvSpPr txBox="1"/>
          <p:nvPr/>
        </p:nvSpPr>
        <p:spPr>
          <a:xfrm>
            <a:off x="640080" y="2240280"/>
            <a:ext cx="1920240" cy="457200"/>
          </a:xfrm>
          <a:prstGeom prst="rect">
            <a:avLst/>
          </a:prstGeom>
          <a:noFill/>
          <a:ln/>
        </p:spPr>
        <p:txBody>
          <a:bodyPr wrap="square" rtlCol="0" anchor="ctr"/>
          <a:lstStyle/>
          <a:p>
            <a:pPr indent="0" marL="0">
              <a:buNone/>
            </a:pPr>
            <a:r>
              <a:rPr lang="en-US" sz="1050" b="1" dirty="0">
                <a:solidFill>
                  <a:srgbClr val="1E2530"/>
                </a:solidFill>
                <a:latin typeface="Calibri" pitchFamily="34" charset="0"/>
                <a:ea typeface="Calibri" pitchFamily="34" charset="-122"/>
                <a:cs typeface="Calibri" pitchFamily="34" charset="-120"/>
              </a:rPr>
              <a:t>Capacity equivalent</a:t>
            </a:r>
            <a:endParaRPr lang="en-US" sz="1050" dirty="0"/>
          </a:p>
        </p:txBody>
      </p:sp>
      <p:sp>
        <p:nvSpPr>
          <p:cNvPr id="14" name="Text 12"/>
          <p:cNvSpPr txBox="1"/>
          <p:nvPr/>
        </p:nvSpPr>
        <p:spPr>
          <a:xfrm>
            <a:off x="2651760" y="1828800"/>
            <a:ext cx="1513332" cy="457200"/>
          </a:xfrm>
          <a:prstGeom prst="rect">
            <a:avLst/>
          </a:prstGeom>
          <a:noFill/>
          <a:ln/>
        </p:spPr>
        <p:txBody>
          <a:bodyPr wrap="square" rtlCol="0" anchor="ctr"/>
          <a:lstStyle/>
          <a:p>
            <a:pPr algn="ctr" indent="0" marL="0">
              <a:buNone/>
            </a:pPr>
            <a:r>
              <a:rPr lang="en-US" sz="1200" b="1" dirty="0">
                <a:solidFill>
                  <a:srgbClr val="1E2530"/>
                </a:solidFill>
                <a:latin typeface="Calibri" pitchFamily="34" charset="0"/>
                <a:ea typeface="Calibri" pitchFamily="34" charset="-122"/>
                <a:cs typeface="Calibri" pitchFamily="34" charset="-120"/>
              </a:rPr>
              <a:t>0%</a:t>
            </a:r>
            <a:endParaRPr lang="en-US" sz="1200" dirty="0"/>
          </a:p>
        </p:txBody>
      </p:sp>
      <p:sp>
        <p:nvSpPr>
          <p:cNvPr id="15" name="Text 13"/>
          <p:cNvSpPr txBox="1"/>
          <p:nvPr/>
        </p:nvSpPr>
        <p:spPr>
          <a:xfrm>
            <a:off x="2651760"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439</a:t>
            </a:r>
            <a:endParaRPr lang="en-US" sz="1100" dirty="0"/>
          </a:p>
        </p:txBody>
      </p:sp>
      <p:sp>
        <p:nvSpPr>
          <p:cNvPr id="16" name="Text 14"/>
          <p:cNvSpPr txBox="1"/>
          <p:nvPr/>
        </p:nvSpPr>
        <p:spPr>
          <a:xfrm>
            <a:off x="4165092" y="1828800"/>
            <a:ext cx="1513332" cy="457200"/>
          </a:xfrm>
          <a:prstGeom prst="rect">
            <a:avLst/>
          </a:prstGeom>
          <a:noFill/>
          <a:ln/>
        </p:spPr>
        <p:txBody>
          <a:bodyPr wrap="square" rtlCol="0" anchor="ctr"/>
          <a:lstStyle/>
          <a:p>
            <a:pPr algn="ctr" indent="0" marL="0">
              <a:buNone/>
            </a:pPr>
            <a:r>
              <a:rPr lang="en-US" sz="1200" b="1" dirty="0">
                <a:solidFill>
                  <a:srgbClr val="1E2530"/>
                </a:solidFill>
                <a:latin typeface="Calibri" pitchFamily="34" charset="0"/>
                <a:ea typeface="Calibri" pitchFamily="34" charset="-122"/>
                <a:cs typeface="Calibri" pitchFamily="34" charset="-120"/>
              </a:rPr>
              <a:t>5%</a:t>
            </a:r>
            <a:endParaRPr lang="en-US" sz="1200" dirty="0"/>
          </a:p>
        </p:txBody>
      </p:sp>
      <p:sp>
        <p:nvSpPr>
          <p:cNvPr id="17" name="Text 15"/>
          <p:cNvSpPr txBox="1"/>
          <p:nvPr/>
        </p:nvSpPr>
        <p:spPr>
          <a:xfrm>
            <a:off x="4165092"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417</a:t>
            </a:r>
            <a:endParaRPr lang="en-US" sz="1100" dirty="0"/>
          </a:p>
        </p:txBody>
      </p:sp>
      <p:sp>
        <p:nvSpPr>
          <p:cNvPr id="18" name="Text 16"/>
          <p:cNvSpPr txBox="1"/>
          <p:nvPr/>
        </p:nvSpPr>
        <p:spPr>
          <a:xfrm>
            <a:off x="5678424" y="1828800"/>
            <a:ext cx="1513332" cy="457200"/>
          </a:xfrm>
          <a:prstGeom prst="rect">
            <a:avLst/>
          </a:prstGeom>
          <a:noFill/>
          <a:ln/>
        </p:spPr>
        <p:txBody>
          <a:bodyPr wrap="square" rtlCol="0" anchor="ctr"/>
          <a:lstStyle/>
          <a:p>
            <a:pPr algn="ctr" indent="0" marL="0">
              <a:buNone/>
            </a:pPr>
            <a:r>
              <a:rPr lang="en-US" sz="1500" b="1" dirty="0">
                <a:solidFill>
                  <a:srgbClr val="1E7FB8"/>
                </a:solidFill>
                <a:latin typeface="Calibri" pitchFamily="34" charset="0"/>
                <a:ea typeface="Calibri" pitchFamily="34" charset="-122"/>
                <a:cs typeface="Calibri" pitchFamily="34" charset="-120"/>
              </a:rPr>
              <a:t>12%</a:t>
            </a:r>
            <a:endParaRPr lang="en-US" sz="1500" dirty="0"/>
          </a:p>
        </p:txBody>
      </p:sp>
      <p:sp>
        <p:nvSpPr>
          <p:cNvPr id="19" name="Text 17"/>
          <p:cNvSpPr txBox="1"/>
          <p:nvPr/>
        </p:nvSpPr>
        <p:spPr>
          <a:xfrm>
            <a:off x="5678424"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386</a:t>
            </a:r>
            <a:endParaRPr lang="en-US" sz="1100" dirty="0"/>
          </a:p>
        </p:txBody>
      </p:sp>
      <p:sp>
        <p:nvSpPr>
          <p:cNvPr id="20" name="Text 18"/>
          <p:cNvSpPr txBox="1"/>
          <p:nvPr/>
        </p:nvSpPr>
        <p:spPr>
          <a:xfrm>
            <a:off x="7191756" y="1828800"/>
            <a:ext cx="1513332" cy="457200"/>
          </a:xfrm>
          <a:prstGeom prst="rect">
            <a:avLst/>
          </a:prstGeom>
          <a:noFill/>
          <a:ln/>
        </p:spPr>
        <p:txBody>
          <a:bodyPr wrap="square" rtlCol="0" anchor="ctr"/>
          <a:lstStyle/>
          <a:p>
            <a:pPr algn="ctr" indent="0" marL="0">
              <a:buNone/>
            </a:pPr>
            <a:r>
              <a:rPr lang="en-US" sz="1500" b="1" dirty="0">
                <a:solidFill>
                  <a:srgbClr val="1E7FB8"/>
                </a:solidFill>
                <a:latin typeface="Calibri" pitchFamily="34" charset="0"/>
                <a:ea typeface="Calibri" pitchFamily="34" charset="-122"/>
                <a:cs typeface="Calibri" pitchFamily="34" charset="-120"/>
              </a:rPr>
              <a:t>18%</a:t>
            </a:r>
            <a:endParaRPr lang="en-US" sz="1500" dirty="0"/>
          </a:p>
        </p:txBody>
      </p:sp>
      <p:sp>
        <p:nvSpPr>
          <p:cNvPr id="21" name="Text 19"/>
          <p:cNvSpPr txBox="1"/>
          <p:nvPr/>
        </p:nvSpPr>
        <p:spPr>
          <a:xfrm>
            <a:off x="7191756"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360</a:t>
            </a:r>
            <a:endParaRPr lang="en-US" sz="1100" dirty="0"/>
          </a:p>
        </p:txBody>
      </p:sp>
      <p:sp>
        <p:nvSpPr>
          <p:cNvPr id="22" name="Text 20"/>
          <p:cNvSpPr txBox="1"/>
          <p:nvPr/>
        </p:nvSpPr>
        <p:spPr>
          <a:xfrm>
            <a:off x="8705088" y="1828800"/>
            <a:ext cx="1513332" cy="457200"/>
          </a:xfrm>
          <a:prstGeom prst="rect">
            <a:avLst/>
          </a:prstGeom>
          <a:noFill/>
          <a:ln/>
        </p:spPr>
        <p:txBody>
          <a:bodyPr wrap="square" rtlCol="0" anchor="ctr"/>
          <a:lstStyle/>
          <a:p>
            <a:pPr algn="ctr" indent="0" marL="0">
              <a:buNone/>
            </a:pPr>
            <a:r>
              <a:rPr lang="en-US" sz="1500" b="1" dirty="0">
                <a:solidFill>
                  <a:srgbClr val="1E7FB8"/>
                </a:solidFill>
                <a:latin typeface="Calibri" pitchFamily="34" charset="0"/>
                <a:ea typeface="Calibri" pitchFamily="34" charset="-122"/>
                <a:cs typeface="Calibri" pitchFamily="34" charset="-120"/>
              </a:rPr>
              <a:t>25%</a:t>
            </a:r>
            <a:endParaRPr lang="en-US" sz="1500" dirty="0"/>
          </a:p>
        </p:txBody>
      </p:sp>
      <p:sp>
        <p:nvSpPr>
          <p:cNvPr id="23" name="Text 21"/>
          <p:cNvSpPr txBox="1"/>
          <p:nvPr/>
        </p:nvSpPr>
        <p:spPr>
          <a:xfrm>
            <a:off x="8705088"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329</a:t>
            </a:r>
            <a:endParaRPr lang="en-US" sz="1100" dirty="0"/>
          </a:p>
        </p:txBody>
      </p:sp>
      <p:sp>
        <p:nvSpPr>
          <p:cNvPr id="24" name="Text 22"/>
          <p:cNvSpPr txBox="1"/>
          <p:nvPr/>
        </p:nvSpPr>
        <p:spPr>
          <a:xfrm>
            <a:off x="10218420" y="1828800"/>
            <a:ext cx="1513332" cy="457200"/>
          </a:xfrm>
          <a:prstGeom prst="rect">
            <a:avLst/>
          </a:prstGeom>
          <a:noFill/>
          <a:ln/>
        </p:spPr>
        <p:txBody>
          <a:bodyPr wrap="square" rtlCol="0" anchor="ctr"/>
          <a:lstStyle/>
          <a:p>
            <a:pPr algn="ctr" indent="0" marL="0">
              <a:buNone/>
            </a:pPr>
            <a:r>
              <a:rPr lang="en-US" sz="1500" b="1" dirty="0">
                <a:solidFill>
                  <a:srgbClr val="1E7FB8"/>
                </a:solidFill>
                <a:latin typeface="Calibri" pitchFamily="34" charset="0"/>
                <a:ea typeface="Calibri" pitchFamily="34" charset="-122"/>
                <a:cs typeface="Calibri" pitchFamily="34" charset="-120"/>
              </a:rPr>
              <a:t>32%</a:t>
            </a:r>
            <a:endParaRPr lang="en-US" sz="1500" dirty="0"/>
          </a:p>
        </p:txBody>
      </p:sp>
      <p:sp>
        <p:nvSpPr>
          <p:cNvPr id="25" name="Text 23"/>
          <p:cNvSpPr txBox="1"/>
          <p:nvPr/>
        </p:nvSpPr>
        <p:spPr>
          <a:xfrm>
            <a:off x="10218420" y="2240280"/>
            <a:ext cx="1513332"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299</a:t>
            </a:r>
            <a:endParaRPr lang="en-US" sz="1100" dirty="0"/>
          </a:p>
        </p:txBody>
      </p:sp>
      <p:sp>
        <p:nvSpPr>
          <p:cNvPr id="26" name="Shape 24"/>
          <p:cNvSpPr/>
          <p:nvPr/>
        </p:nvSpPr>
        <p:spPr>
          <a:xfrm>
            <a:off x="457200" y="2880360"/>
            <a:ext cx="3611880" cy="438912"/>
          </a:xfrm>
          <a:prstGeom prst="rect">
            <a:avLst/>
          </a:prstGeom>
          <a:solidFill>
            <a:srgbClr val="173A5E"/>
          </a:solidFill>
          <a:ln/>
        </p:spPr>
      </p:sp>
      <p:sp>
        <p:nvSpPr>
          <p:cNvPr id="27" name="Text 25"/>
          <p:cNvSpPr txBox="1"/>
          <p:nvPr/>
        </p:nvSpPr>
        <p:spPr>
          <a:xfrm>
            <a:off x="594360" y="2880360"/>
            <a:ext cx="25146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Stabilize &amp; baseline</a:t>
            </a:r>
            <a:endParaRPr lang="en-US" sz="1200" dirty="0"/>
          </a:p>
        </p:txBody>
      </p:sp>
      <p:sp>
        <p:nvSpPr>
          <p:cNvPr id="28" name="Text 26"/>
          <p:cNvSpPr txBox="1"/>
          <p:nvPr/>
        </p:nvSpPr>
        <p:spPr>
          <a:xfrm>
            <a:off x="3108960" y="2880360"/>
            <a:ext cx="868680" cy="438912"/>
          </a:xfrm>
          <a:prstGeom prst="rect">
            <a:avLst/>
          </a:prstGeom>
          <a:noFill/>
          <a:ln/>
        </p:spPr>
        <p:txBody>
          <a:bodyPr wrap="square" rtlCol="0" anchor="ctr"/>
          <a:lstStyle/>
          <a:p>
            <a:pPr algn="r" indent="0" marL="0">
              <a:buNone/>
            </a:pPr>
            <a:r>
              <a:rPr lang="en-US" sz="950" b="1" dirty="0">
                <a:solidFill>
                  <a:srgbClr val="FFFFFF"/>
                </a:solidFill>
                <a:latin typeface="Calibri" pitchFamily="34" charset="0"/>
                <a:ea typeface="Calibri" pitchFamily="34" charset="-122"/>
                <a:cs typeface="Calibri" pitchFamily="34" charset="-120"/>
              </a:rPr>
              <a:t>Day 1-Y1</a:t>
            </a:r>
            <a:endParaRPr lang="en-US" sz="950" dirty="0"/>
          </a:p>
        </p:txBody>
      </p:sp>
      <p:sp>
        <p:nvSpPr>
          <p:cNvPr id="29" name="Shape 27"/>
          <p:cNvSpPr/>
          <p:nvPr/>
        </p:nvSpPr>
        <p:spPr>
          <a:xfrm>
            <a:off x="457200" y="3319272"/>
            <a:ext cx="3611880" cy="1691640"/>
          </a:xfrm>
          <a:prstGeom prst="rect">
            <a:avLst/>
          </a:prstGeom>
          <a:solidFill>
            <a:srgbClr val="F5F6F8"/>
          </a:solidFill>
          <a:ln w="12700">
            <a:solidFill>
              <a:srgbClr val="E1E6ED"/>
            </a:solidFill>
            <a:prstDash val="solid"/>
          </a:ln>
        </p:spPr>
      </p:sp>
      <p:sp>
        <p:nvSpPr>
          <p:cNvPr id="30" name="Text 28"/>
          <p:cNvSpPr txBox="1"/>
          <p:nvPr/>
        </p:nvSpPr>
        <p:spPr>
          <a:xfrm>
            <a:off x="640080" y="3502152"/>
            <a:ext cx="3246120" cy="1325880"/>
          </a:xfrm>
          <a:prstGeom prst="rect">
            <a:avLst/>
          </a:prstGeom>
          <a:noFill/>
          <a:ln/>
        </p:spPr>
        <p:txBody>
          <a:bodyPr wrap="square" rtlCol="0" anchor="t"/>
          <a:lstStyle/>
          <a:p>
            <a:pPr indent="0" marL="0">
              <a:lnSpc>
                <a:spcPct val="120000"/>
              </a:lnSpc>
              <a:buNone/>
            </a:pPr>
            <a:r>
              <a:rPr lang="en-US" sz="1050" dirty="0">
                <a:solidFill>
                  <a:srgbClr val="394150"/>
                </a:solidFill>
                <a:latin typeface="Calibri" pitchFamily="34" charset="0"/>
                <a:ea typeface="Calibri" pitchFamily="34" charset="-122"/>
                <a:cs typeface="Calibri" pitchFamily="34" charset="-120"/>
              </a:rPr>
              <a:t>Transition factory; KPI baseline; application knowledge graph; regression inventory; incident and release readiness.</a:t>
            </a:r>
            <a:endParaRPr lang="en-US" sz="1050" dirty="0"/>
          </a:p>
        </p:txBody>
      </p:sp>
      <p:sp>
        <p:nvSpPr>
          <p:cNvPr id="31" name="Shape 29"/>
          <p:cNvSpPr/>
          <p:nvPr/>
        </p:nvSpPr>
        <p:spPr>
          <a:xfrm>
            <a:off x="4288536" y="2880360"/>
            <a:ext cx="3611880" cy="438912"/>
          </a:xfrm>
          <a:prstGeom prst="rect">
            <a:avLst/>
          </a:prstGeom>
          <a:solidFill>
            <a:srgbClr val="1E9E8E"/>
          </a:solidFill>
          <a:ln/>
        </p:spPr>
      </p:sp>
      <p:sp>
        <p:nvSpPr>
          <p:cNvPr id="32" name="Text 30"/>
          <p:cNvSpPr txBox="1"/>
          <p:nvPr/>
        </p:nvSpPr>
        <p:spPr>
          <a:xfrm>
            <a:off x="4425696" y="2880360"/>
            <a:ext cx="25146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Standardize &amp; automate</a:t>
            </a:r>
            <a:endParaRPr lang="en-US" sz="1200" dirty="0"/>
          </a:p>
        </p:txBody>
      </p:sp>
      <p:sp>
        <p:nvSpPr>
          <p:cNvPr id="33" name="Text 31"/>
          <p:cNvSpPr txBox="1"/>
          <p:nvPr/>
        </p:nvSpPr>
        <p:spPr>
          <a:xfrm>
            <a:off x="6940296" y="2880360"/>
            <a:ext cx="868680" cy="438912"/>
          </a:xfrm>
          <a:prstGeom prst="rect">
            <a:avLst/>
          </a:prstGeom>
          <a:noFill/>
          <a:ln/>
        </p:spPr>
        <p:txBody>
          <a:bodyPr wrap="square" rtlCol="0" anchor="ctr"/>
          <a:lstStyle/>
          <a:p>
            <a:pPr algn="r" indent="0" marL="0">
              <a:buNone/>
            </a:pPr>
            <a:r>
              <a:rPr lang="en-US" sz="950" b="1" dirty="0">
                <a:solidFill>
                  <a:srgbClr val="FFFFFF"/>
                </a:solidFill>
                <a:latin typeface="Calibri" pitchFamily="34" charset="0"/>
                <a:ea typeface="Calibri" pitchFamily="34" charset="-122"/>
                <a:cs typeface="Calibri" pitchFamily="34" charset="-120"/>
              </a:rPr>
              <a:t>Y1-Y3</a:t>
            </a:r>
            <a:endParaRPr lang="en-US" sz="950" dirty="0"/>
          </a:p>
        </p:txBody>
      </p:sp>
      <p:sp>
        <p:nvSpPr>
          <p:cNvPr id="34" name="Shape 32"/>
          <p:cNvSpPr/>
          <p:nvPr/>
        </p:nvSpPr>
        <p:spPr>
          <a:xfrm>
            <a:off x="4288536" y="3319272"/>
            <a:ext cx="3611880" cy="1691640"/>
          </a:xfrm>
          <a:prstGeom prst="rect">
            <a:avLst/>
          </a:prstGeom>
          <a:solidFill>
            <a:srgbClr val="F5F6F8"/>
          </a:solidFill>
          <a:ln w="12700">
            <a:solidFill>
              <a:srgbClr val="E1E6ED"/>
            </a:solidFill>
            <a:prstDash val="solid"/>
          </a:ln>
        </p:spPr>
      </p:sp>
      <p:sp>
        <p:nvSpPr>
          <p:cNvPr id="35" name="Text 33"/>
          <p:cNvSpPr txBox="1"/>
          <p:nvPr/>
        </p:nvSpPr>
        <p:spPr>
          <a:xfrm>
            <a:off x="4471416" y="3502152"/>
            <a:ext cx="3246120" cy="1325880"/>
          </a:xfrm>
          <a:prstGeom prst="rect">
            <a:avLst/>
          </a:prstGeom>
          <a:noFill/>
          <a:ln/>
        </p:spPr>
        <p:txBody>
          <a:bodyPr wrap="square" rtlCol="0" anchor="t"/>
          <a:lstStyle/>
          <a:p>
            <a:pPr indent="0" marL="0">
              <a:lnSpc>
                <a:spcPct val="120000"/>
              </a:lnSpc>
              <a:buNone/>
            </a:pPr>
            <a:r>
              <a:rPr lang="en-US" sz="1050" dirty="0">
                <a:solidFill>
                  <a:srgbClr val="394150"/>
                </a:solidFill>
                <a:latin typeface="Calibri" pitchFamily="34" charset="0"/>
                <a:ea typeface="Calibri" pitchFamily="34" charset="-122"/>
                <a:cs typeface="Calibri" pitchFamily="34" charset="-120"/>
              </a:rPr>
              <a:t>Reusable API/service analysis; AI-assisted documentation; test automation; CI/CD controls; defect prevention; SRE problem backlog.</a:t>
            </a:r>
            <a:endParaRPr lang="en-US" sz="1050" dirty="0"/>
          </a:p>
        </p:txBody>
      </p:sp>
      <p:sp>
        <p:nvSpPr>
          <p:cNvPr id="36" name="Shape 34"/>
          <p:cNvSpPr/>
          <p:nvPr/>
        </p:nvSpPr>
        <p:spPr>
          <a:xfrm>
            <a:off x="8119872" y="2880360"/>
            <a:ext cx="3611880" cy="438912"/>
          </a:xfrm>
          <a:prstGeom prst="rect">
            <a:avLst/>
          </a:prstGeom>
          <a:solidFill>
            <a:srgbClr val="3B3FA6"/>
          </a:solidFill>
          <a:ln/>
        </p:spPr>
      </p:sp>
      <p:sp>
        <p:nvSpPr>
          <p:cNvPr id="37" name="Text 35"/>
          <p:cNvSpPr txBox="1"/>
          <p:nvPr/>
        </p:nvSpPr>
        <p:spPr>
          <a:xfrm>
            <a:off x="8257032" y="2880360"/>
            <a:ext cx="2514600" cy="43891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 &amp; optimize</a:t>
            </a:r>
            <a:endParaRPr lang="en-US" sz="1200" dirty="0"/>
          </a:p>
        </p:txBody>
      </p:sp>
      <p:sp>
        <p:nvSpPr>
          <p:cNvPr id="38" name="Text 36"/>
          <p:cNvSpPr txBox="1"/>
          <p:nvPr/>
        </p:nvSpPr>
        <p:spPr>
          <a:xfrm>
            <a:off x="10771632" y="2880360"/>
            <a:ext cx="868680" cy="438912"/>
          </a:xfrm>
          <a:prstGeom prst="rect">
            <a:avLst/>
          </a:prstGeom>
          <a:noFill/>
          <a:ln/>
        </p:spPr>
        <p:txBody>
          <a:bodyPr wrap="square" rtlCol="0" anchor="ctr"/>
          <a:lstStyle/>
          <a:p>
            <a:pPr algn="r" indent="0" marL="0">
              <a:buNone/>
            </a:pPr>
            <a:r>
              <a:rPr lang="en-US" sz="950" b="1" dirty="0">
                <a:solidFill>
                  <a:srgbClr val="FFFFFF"/>
                </a:solidFill>
                <a:latin typeface="Calibri" pitchFamily="34" charset="0"/>
                <a:ea typeface="Calibri" pitchFamily="34" charset="-122"/>
                <a:cs typeface="Calibri" pitchFamily="34" charset="-120"/>
              </a:rPr>
              <a:t>Y3-Y5</a:t>
            </a:r>
            <a:endParaRPr lang="en-US" sz="950" dirty="0"/>
          </a:p>
        </p:txBody>
      </p:sp>
      <p:sp>
        <p:nvSpPr>
          <p:cNvPr id="39" name="Shape 37"/>
          <p:cNvSpPr/>
          <p:nvPr/>
        </p:nvSpPr>
        <p:spPr>
          <a:xfrm>
            <a:off x="8119872" y="3319272"/>
            <a:ext cx="3611880" cy="1691640"/>
          </a:xfrm>
          <a:prstGeom prst="rect">
            <a:avLst/>
          </a:prstGeom>
          <a:solidFill>
            <a:srgbClr val="F5F6F8"/>
          </a:solidFill>
          <a:ln w="12700">
            <a:solidFill>
              <a:srgbClr val="E1E6ED"/>
            </a:solidFill>
            <a:prstDash val="solid"/>
          </a:ln>
        </p:spPr>
      </p:sp>
      <p:sp>
        <p:nvSpPr>
          <p:cNvPr id="40" name="Text 38"/>
          <p:cNvSpPr txBox="1"/>
          <p:nvPr/>
        </p:nvSpPr>
        <p:spPr>
          <a:xfrm>
            <a:off x="8302752" y="3502152"/>
            <a:ext cx="3246120" cy="1325880"/>
          </a:xfrm>
          <a:prstGeom prst="rect">
            <a:avLst/>
          </a:prstGeom>
          <a:noFill/>
          <a:ln/>
        </p:spPr>
        <p:txBody>
          <a:bodyPr wrap="square" rtlCol="0" anchor="t"/>
          <a:lstStyle/>
          <a:p>
            <a:pPr indent="0" marL="0">
              <a:lnSpc>
                <a:spcPct val="120000"/>
              </a:lnSpc>
              <a:buNone/>
            </a:pPr>
            <a:r>
              <a:rPr lang="en-US" sz="1050" dirty="0">
                <a:solidFill>
                  <a:srgbClr val="394150"/>
                </a:solidFill>
                <a:latin typeface="Calibri" pitchFamily="34" charset="0"/>
                <a:ea typeface="Calibri" pitchFamily="34" charset="-122"/>
                <a:cs typeface="Calibri" pitchFamily="34" charset="-120"/>
              </a:rPr>
              <a:t>Agentic engineering use cases; modernization waves; rationalized batch and interfaces; predictive operations; leaner pod capacity.</a:t>
            </a:r>
            <a:endParaRPr lang="en-US" sz="1050" dirty="0"/>
          </a:p>
        </p:txBody>
      </p:sp>
      <p:sp>
        <p:nvSpPr>
          <p:cNvPr id="41" name="Text 39"/>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42" name="Text 40"/>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43" name="Text 41"/>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100" b="1" dirty="0">
                <a:solidFill>
                  <a:srgbClr val="1E2530"/>
                </a:solidFill>
                <a:latin typeface="Calibri" pitchFamily="34" charset="0"/>
                <a:ea typeface="Calibri" pitchFamily="34" charset="-122"/>
                <a:cs typeface="Calibri" pitchFamily="34" charset="-120"/>
              </a:rPr>
              <a:t>Delivery pods: 29 pods of 8-10 people, split by application profile</a:t>
            </a:r>
            <a:endParaRPr lang="en-US" sz="21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Pods = AD-scope role-equivalent people (BA+BSA+Dev+Tester+SRE+Scrum Master+Architects) ÷ ~8.5, rounded, minimum 1 pod per cluster.</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1874520"/>
                <a:gridCol w="2788920"/>
                <a:gridCol w="3566160"/>
                <a:gridCol w="1234440"/>
                <a:gridCol w="777240"/>
                <a:gridCol w="1033272"/>
              </a:tblGrid>
              <a:tr h="3840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General Application Profile</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Apps</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Role-eq. people</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Pods</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Avg / pod</a:t>
                      </a:r>
                      <a:endParaRPr lang="en-US" sz="100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r>
              <a:tr h="457200">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GSSP Delivery Cluster</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RESTful APIs; Web Application Client</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JP-GSSP</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139.6</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8.7</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BANCA Delivery Cluster</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Web Application Client; RESTful APIs</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JP-BANCA</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59.2</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b="1" dirty="0">
                          <a:solidFill>
                            <a:srgbClr val="394150"/>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8.5</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r>
              <a:tr h="621792">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Web Services Cluster</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Web Services (+ variants)</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WGLRPC, WPSCFC, JP-Banca Report, Distribution Sys., WCC</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9415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7.3</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Thick Client Cluster</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Thick Client</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P02BKE-JPN, W08NAV-JPN</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13.9</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b="1" dirty="0">
                          <a:solidFill>
                            <a:srgbClr val="39415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r>
              <a:tr h="621792">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Tail Applications Pod</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Other#(C/S), Web App Client, Batch, Web Svc.;RESTful</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l" indent="0" marL="0">
                        <a:buNone/>
                      </a:pPr>
                      <a:r>
                        <a:rPr lang="en-US" sz="950" dirty="0">
                          <a:solidFill>
                            <a:srgbClr val="394150"/>
                          </a:solidFill>
                          <a:latin typeface="Calibri" pitchFamily="34" charset="0"/>
                          <a:ea typeface="Calibri" pitchFamily="34" charset="-122"/>
                          <a:cs typeface="Calibri" pitchFamily="34" charset="-120"/>
                        </a:rPr>
                        <a:t>WAAATF, JP-Remote Closing, IVR Tekigosei, W09WSD BIS</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11.3</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94150"/>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11.3</a:t>
                      </a:r>
                      <a:endParaRPr lang="en-US" sz="950" dirty="0">
                        <a:latin typeface="Calibri" charset="0"/>
                        <a:ea typeface="Calibri" charset="0"/>
                        <a:cs typeface="Calibri" charset="0"/>
                      </a:endParaRPr>
                    </a:p>
                  </a:txBody>
                  <a:tcPr marL="101600" marR="101600" marT="50800" marB="508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425696"/>
            <a:ext cx="11274552" cy="365760"/>
          </a:xfrm>
          <a:prstGeom prst="rect">
            <a:avLst/>
          </a:prstGeom>
          <a:solidFill>
            <a:srgbClr val="173A5E"/>
          </a:solidFill>
          <a:ln/>
        </p:spPr>
      </p:sp>
      <p:sp>
        <p:nvSpPr>
          <p:cNvPr id="7" name="Text 4"/>
          <p:cNvSpPr txBox="1"/>
          <p:nvPr/>
        </p:nvSpPr>
        <p:spPr>
          <a:xfrm>
            <a:off x="548640" y="4425696"/>
            <a:ext cx="457200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Domain total</a:t>
            </a:r>
            <a:endParaRPr lang="en-US" sz="1050" dirty="0"/>
          </a:p>
        </p:txBody>
      </p:sp>
      <p:sp>
        <p:nvSpPr>
          <p:cNvPr id="8" name="Text 5"/>
          <p:cNvSpPr txBox="1"/>
          <p:nvPr/>
        </p:nvSpPr>
        <p:spPr>
          <a:xfrm>
            <a:off x="8686800" y="4425696"/>
            <a:ext cx="123444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246.0</a:t>
            </a:r>
            <a:endParaRPr lang="en-US" sz="1050" dirty="0"/>
          </a:p>
        </p:txBody>
      </p:sp>
      <p:sp>
        <p:nvSpPr>
          <p:cNvPr id="9" name="Text 6"/>
          <p:cNvSpPr txBox="1"/>
          <p:nvPr/>
        </p:nvSpPr>
        <p:spPr>
          <a:xfrm>
            <a:off x="9921240" y="4425696"/>
            <a:ext cx="77724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29</a:t>
            </a:r>
            <a:endParaRPr lang="en-US" sz="1050" dirty="0"/>
          </a:p>
        </p:txBody>
      </p:sp>
      <p:sp>
        <p:nvSpPr>
          <p:cNvPr id="10" name="Text 7"/>
          <p:cNvSpPr txBox="1"/>
          <p:nvPr/>
        </p:nvSpPr>
        <p:spPr>
          <a:xfrm>
            <a:off x="10698480" y="4425696"/>
            <a:ext cx="1033272"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8.5 avg</a:t>
            </a:r>
            <a:endParaRPr lang="en-US" sz="1050" dirty="0"/>
          </a:p>
        </p:txBody>
      </p:sp>
      <p:sp>
        <p:nvSpPr>
          <p:cNvPr id="11" name="Shape 8"/>
          <p:cNvSpPr/>
          <p:nvPr/>
        </p:nvSpPr>
        <p:spPr>
          <a:xfrm>
            <a:off x="457200" y="4974336"/>
            <a:ext cx="11274552" cy="1234440"/>
          </a:xfrm>
          <a:prstGeom prst="roundRect">
            <a:avLst>
              <a:gd name="adj" fmla="val 5926"/>
            </a:avLst>
          </a:prstGeom>
          <a:solidFill>
            <a:srgbClr val="EAF6EF"/>
          </a:solidFill>
          <a:ln w="12700">
            <a:solidFill>
              <a:srgbClr val="CFE9DA"/>
            </a:solidFill>
            <a:prstDash val="solid"/>
          </a:ln>
        </p:spPr>
      </p:sp>
      <p:sp>
        <p:nvSpPr>
          <p:cNvPr id="12" name="Text 9"/>
          <p:cNvSpPr txBox="1"/>
          <p:nvPr/>
        </p:nvSpPr>
        <p:spPr>
          <a:xfrm>
            <a:off x="685800" y="5111496"/>
            <a:ext cx="10817352" cy="960120"/>
          </a:xfrm>
          <a:prstGeom prst="rect">
            <a:avLst/>
          </a:prstGeom>
          <a:noFill/>
          <a:ln/>
        </p:spPr>
        <p:txBody>
          <a:bodyPr wrap="square" rtlCol="0" anchor="t"/>
          <a:lstStyle/>
          <a:p>
            <a:pPr marL="177800" indent="-177800">
              <a:lnSpc>
                <a:spcPct val="115000"/>
              </a:lnSpc>
              <a:spcAft>
                <a:spcPts val="800"/>
              </a:spcAft>
              <a:buSzPct val="100000"/>
              <a:buChar char="•"/>
            </a:pPr>
            <a:r>
              <a:rPr lang="en-US" sz="1050" dirty="0">
                <a:solidFill>
                  <a:srgbClr val="1E6B44"/>
                </a:solidFill>
                <a:latin typeface="Calibri" pitchFamily="34" charset="0"/>
                <a:ea typeface="Calibri" pitchFamily="34" charset="-122"/>
                <a:cs typeface="Calibri" pitchFamily="34" charset="-120"/>
              </a:rPr>
              <a:t>GSSP alone needs ~16 pods and BANCA ~7 — together 79% of all 29 Day-1 pods, so pod formation and staffing should sequence with these two applications, not spread evenly across the domain.</a:t>
            </a:r>
            <a:endParaRPr lang="en-US" sz="1050" dirty="0"/>
          </a:p>
          <a:p>
            <a:pPr marL="177800" indent="-177800">
              <a:lnSpc>
                <a:spcPct val="115000"/>
              </a:lnSpc>
              <a:spcAft>
                <a:spcPts val="800"/>
              </a:spcAft>
              <a:buSzPct val="100000"/>
              <a:buChar char="•"/>
            </a:pPr>
            <a:r>
              <a:rPr lang="en-US" sz="1050" dirty="0">
                <a:solidFill>
                  <a:srgbClr val="1E6B44"/>
                </a:solidFill>
                <a:latin typeface="Calibri" pitchFamily="34" charset="0"/>
                <a:ea typeface="Calibri" pitchFamily="34" charset="-122"/>
                <a:cs typeface="Calibri" pitchFamily="34" charset="-120"/>
              </a:rPr>
              <a:t>The Tail Applications Pod (11.3 people) intentionally exceeds the 8-10 range: it consolidates four low-headcount, cross-profile apps into one shared pod rather than staffing four sub-scale pods.</a:t>
            </a:r>
            <a:endParaRPr lang="en-US" sz="1050" dirty="0"/>
          </a:p>
        </p:txBody>
      </p:sp>
      <p:sp>
        <p:nvSpPr>
          <p:cNvPr id="13" name="Text 10"/>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14" name="Text 11"/>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15" name="Text 12"/>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1CADC0"/>
          </a:solidFill>
          <a:ln/>
        </p:spPr>
      </p:sp>
      <p:sp>
        <p:nvSpPr>
          <p:cNvPr id="3" name="Text 1"/>
          <p:cNvSpPr txBox="1"/>
          <p:nvPr/>
        </p:nvSpPr>
        <p:spPr>
          <a:xfrm>
            <a:off x="457200" y="219456"/>
            <a:ext cx="11247120" cy="566928"/>
          </a:xfrm>
          <a:prstGeom prst="rect">
            <a:avLst/>
          </a:prstGeom>
          <a:noFill/>
          <a:ln/>
        </p:spPr>
        <p:txBody>
          <a:bodyPr wrap="square" rtlCol="0" anchor="ctr"/>
          <a:lstStyle/>
          <a:p>
            <a:pPr indent="0" marL="0">
              <a:buNone/>
            </a:pPr>
            <a:r>
              <a:rPr lang="en-US" sz="2100" b="1" dirty="0">
                <a:solidFill>
                  <a:srgbClr val="1E2530"/>
                </a:solidFill>
                <a:latin typeface="Calibri" pitchFamily="34" charset="0"/>
                <a:ea typeface="Calibri" pitchFamily="34" charset="-122"/>
                <a:cs typeface="Calibri" pitchFamily="34" charset="-120"/>
              </a:rPr>
              <a:t>Typical pod composition and role mix by cluster</a:t>
            </a:r>
            <a:endParaRPr lang="en-US" sz="2100" dirty="0"/>
          </a:p>
        </p:txBody>
      </p:sp>
      <p:sp>
        <p:nvSpPr>
          <p:cNvPr id="4" name="Text 2"/>
          <p:cNvSpPr txBox="1"/>
          <p:nvPr/>
        </p:nvSpPr>
        <p:spPr>
          <a:xfrm>
            <a:off x="457200" y="749808"/>
            <a:ext cx="112471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Role mix uses the fixed AD-scope ratio applied uniformly across the domain: BA 7.4% · BSA 7.4% · Dev 38.9% · Tester 26.3% · SRE 5.3% · Scrum Master 7.4% · Architects 7.4%.</a:t>
            </a:r>
            <a:endParaRPr lang="en-US" sz="1100" dirty="0"/>
          </a:p>
        </p:txBody>
      </p:sp>
      <p:sp>
        <p:nvSpPr>
          <p:cNvPr id="5" name="Shape 3"/>
          <p:cNvSpPr/>
          <p:nvPr/>
        </p:nvSpPr>
        <p:spPr>
          <a:xfrm>
            <a:off x="457200" y="1371600"/>
            <a:ext cx="3657600" cy="4160520"/>
          </a:xfrm>
          <a:prstGeom prst="roundRect">
            <a:avLst>
              <a:gd name="adj" fmla="val 2500"/>
            </a:avLst>
          </a:prstGeom>
          <a:solidFill>
            <a:srgbClr val="F6F7F9"/>
          </a:solidFill>
          <a:ln w="12700">
            <a:solidFill>
              <a:srgbClr val="E1E6ED"/>
            </a:solidFill>
            <a:prstDash val="solid"/>
          </a:ln>
        </p:spPr>
      </p:sp>
      <p:sp>
        <p:nvSpPr>
          <p:cNvPr id="6" name="Text 4"/>
          <p:cNvSpPr txBox="1"/>
          <p:nvPr/>
        </p:nvSpPr>
        <p:spPr>
          <a:xfrm>
            <a:off x="685800" y="1554480"/>
            <a:ext cx="3200400" cy="320040"/>
          </a:xfrm>
          <a:prstGeom prst="rect">
            <a:avLst/>
          </a:prstGeom>
          <a:noFill/>
          <a:ln/>
        </p:spPr>
        <p:txBody>
          <a:bodyPr wrap="square" rtlCol="0" anchor="ctr"/>
          <a:lstStyle/>
          <a:p>
            <a:pPr indent="0" marL="0">
              <a:buNone/>
            </a:pPr>
            <a:r>
              <a:rPr lang="en-US" sz="1400" b="1" dirty="0">
                <a:solidFill>
                  <a:srgbClr val="1E2530"/>
                </a:solidFill>
                <a:latin typeface="Calibri" pitchFamily="34" charset="0"/>
                <a:ea typeface="Calibri" pitchFamily="34" charset="-122"/>
                <a:cs typeface="Calibri" pitchFamily="34" charset="-120"/>
              </a:rPr>
              <a:t>Standard delivery pod</a:t>
            </a:r>
            <a:endParaRPr lang="en-US" sz="1400" dirty="0"/>
          </a:p>
        </p:txBody>
      </p:sp>
      <p:sp>
        <p:nvSpPr>
          <p:cNvPr id="7" name="Text 5"/>
          <p:cNvSpPr txBox="1"/>
          <p:nvPr/>
        </p:nvSpPr>
        <p:spPr>
          <a:xfrm>
            <a:off x="685800" y="1874520"/>
            <a:ext cx="3200400" cy="27432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~8.5 people (domain average)</a:t>
            </a:r>
            <a:endParaRPr lang="en-US" sz="1000" dirty="0"/>
          </a:p>
        </p:txBody>
      </p:sp>
      <p:sp>
        <p:nvSpPr>
          <p:cNvPr id="8" name="Shape 6"/>
          <p:cNvSpPr/>
          <p:nvPr/>
        </p:nvSpPr>
        <p:spPr>
          <a:xfrm>
            <a:off x="685800" y="2331720"/>
            <a:ext cx="3200400" cy="438912"/>
          </a:xfrm>
          <a:prstGeom prst="rect">
            <a:avLst/>
          </a:prstGeom>
          <a:solidFill>
            <a:srgbClr val="FFFFFF"/>
          </a:solidFill>
          <a:ln w="9525">
            <a:solidFill>
              <a:srgbClr val="E1E6ED"/>
            </a:solidFill>
            <a:prstDash val="solid"/>
          </a:ln>
        </p:spPr>
      </p:sp>
      <p:sp>
        <p:nvSpPr>
          <p:cNvPr id="9" name="Text 7"/>
          <p:cNvSpPr txBox="1"/>
          <p:nvPr/>
        </p:nvSpPr>
        <p:spPr>
          <a:xfrm>
            <a:off x="822960" y="2331720"/>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BA / BSA (combined)</a:t>
            </a:r>
            <a:endParaRPr lang="en-US" sz="1050" dirty="0"/>
          </a:p>
        </p:txBody>
      </p:sp>
      <p:sp>
        <p:nvSpPr>
          <p:cNvPr id="10" name="Text 8"/>
          <p:cNvSpPr txBox="1"/>
          <p:nvPr/>
        </p:nvSpPr>
        <p:spPr>
          <a:xfrm>
            <a:off x="2743200" y="2331720"/>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1</a:t>
            </a:r>
            <a:endParaRPr lang="en-US" sz="1050" dirty="0"/>
          </a:p>
        </p:txBody>
      </p:sp>
      <p:sp>
        <p:nvSpPr>
          <p:cNvPr id="11" name="Shape 9"/>
          <p:cNvSpPr/>
          <p:nvPr/>
        </p:nvSpPr>
        <p:spPr>
          <a:xfrm>
            <a:off x="685800" y="2825496"/>
            <a:ext cx="3200400" cy="438912"/>
          </a:xfrm>
          <a:prstGeom prst="rect">
            <a:avLst/>
          </a:prstGeom>
          <a:solidFill>
            <a:srgbClr val="FFFFFF"/>
          </a:solidFill>
          <a:ln w="9525">
            <a:solidFill>
              <a:srgbClr val="E1E6ED"/>
            </a:solidFill>
            <a:prstDash val="solid"/>
          </a:ln>
        </p:spPr>
      </p:sp>
      <p:sp>
        <p:nvSpPr>
          <p:cNvPr id="12" name="Text 10"/>
          <p:cNvSpPr txBox="1"/>
          <p:nvPr/>
        </p:nvSpPr>
        <p:spPr>
          <a:xfrm>
            <a:off x="822960" y="2825496"/>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Developers</a:t>
            </a:r>
            <a:endParaRPr lang="en-US" sz="1050" dirty="0"/>
          </a:p>
        </p:txBody>
      </p:sp>
      <p:sp>
        <p:nvSpPr>
          <p:cNvPr id="13" name="Text 11"/>
          <p:cNvSpPr txBox="1"/>
          <p:nvPr/>
        </p:nvSpPr>
        <p:spPr>
          <a:xfrm>
            <a:off x="2743200" y="2825496"/>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3-4</a:t>
            </a:r>
            <a:endParaRPr lang="en-US" sz="1050" dirty="0"/>
          </a:p>
        </p:txBody>
      </p:sp>
      <p:sp>
        <p:nvSpPr>
          <p:cNvPr id="14" name="Shape 12"/>
          <p:cNvSpPr/>
          <p:nvPr/>
        </p:nvSpPr>
        <p:spPr>
          <a:xfrm>
            <a:off x="685800" y="3319272"/>
            <a:ext cx="3200400" cy="438912"/>
          </a:xfrm>
          <a:prstGeom prst="rect">
            <a:avLst/>
          </a:prstGeom>
          <a:solidFill>
            <a:srgbClr val="FFFFFF"/>
          </a:solidFill>
          <a:ln w="9525">
            <a:solidFill>
              <a:srgbClr val="E1E6ED"/>
            </a:solidFill>
            <a:prstDash val="solid"/>
          </a:ln>
        </p:spPr>
      </p:sp>
      <p:sp>
        <p:nvSpPr>
          <p:cNvPr id="15" name="Text 13"/>
          <p:cNvSpPr txBox="1"/>
          <p:nvPr/>
        </p:nvSpPr>
        <p:spPr>
          <a:xfrm>
            <a:off x="822960" y="3319272"/>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Testers</a:t>
            </a:r>
            <a:endParaRPr lang="en-US" sz="1050" dirty="0"/>
          </a:p>
        </p:txBody>
      </p:sp>
      <p:sp>
        <p:nvSpPr>
          <p:cNvPr id="16" name="Text 14"/>
          <p:cNvSpPr txBox="1"/>
          <p:nvPr/>
        </p:nvSpPr>
        <p:spPr>
          <a:xfrm>
            <a:off x="2743200" y="3319272"/>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2</a:t>
            </a:r>
            <a:endParaRPr lang="en-US" sz="1050" dirty="0"/>
          </a:p>
        </p:txBody>
      </p:sp>
      <p:sp>
        <p:nvSpPr>
          <p:cNvPr id="17" name="Shape 15"/>
          <p:cNvSpPr/>
          <p:nvPr/>
        </p:nvSpPr>
        <p:spPr>
          <a:xfrm>
            <a:off x="685800" y="3813048"/>
            <a:ext cx="3200400" cy="438912"/>
          </a:xfrm>
          <a:prstGeom prst="rect">
            <a:avLst/>
          </a:prstGeom>
          <a:solidFill>
            <a:srgbClr val="EFF2F6"/>
          </a:solidFill>
          <a:ln w="9525">
            <a:solidFill>
              <a:srgbClr val="E1E6ED"/>
            </a:solidFill>
            <a:prstDash val="solid"/>
          </a:ln>
        </p:spPr>
      </p:sp>
      <p:sp>
        <p:nvSpPr>
          <p:cNvPr id="18" name="Text 16"/>
          <p:cNvSpPr txBox="1"/>
          <p:nvPr/>
        </p:nvSpPr>
        <p:spPr>
          <a:xfrm>
            <a:off x="822960" y="3813048"/>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SRE</a:t>
            </a:r>
            <a:endParaRPr lang="en-US" sz="1050" dirty="0"/>
          </a:p>
        </p:txBody>
      </p:sp>
      <p:sp>
        <p:nvSpPr>
          <p:cNvPr id="19" name="Text 17"/>
          <p:cNvSpPr txBox="1"/>
          <p:nvPr/>
        </p:nvSpPr>
        <p:spPr>
          <a:xfrm>
            <a:off x="2743200" y="3813048"/>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pooled ~0.5</a:t>
            </a:r>
            <a:endParaRPr lang="en-US" sz="1050" dirty="0"/>
          </a:p>
        </p:txBody>
      </p:sp>
      <p:sp>
        <p:nvSpPr>
          <p:cNvPr id="20" name="Shape 18"/>
          <p:cNvSpPr/>
          <p:nvPr/>
        </p:nvSpPr>
        <p:spPr>
          <a:xfrm>
            <a:off x="685800" y="4306824"/>
            <a:ext cx="3200400" cy="438912"/>
          </a:xfrm>
          <a:prstGeom prst="rect">
            <a:avLst/>
          </a:prstGeom>
          <a:solidFill>
            <a:srgbClr val="EFF2F6"/>
          </a:solidFill>
          <a:ln w="9525">
            <a:solidFill>
              <a:srgbClr val="E1E6ED"/>
            </a:solidFill>
            <a:prstDash val="solid"/>
          </a:ln>
        </p:spPr>
      </p:sp>
      <p:sp>
        <p:nvSpPr>
          <p:cNvPr id="21" name="Text 19"/>
          <p:cNvSpPr txBox="1"/>
          <p:nvPr/>
        </p:nvSpPr>
        <p:spPr>
          <a:xfrm>
            <a:off x="822960" y="4306824"/>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Scrum Master</a:t>
            </a:r>
            <a:endParaRPr lang="en-US" sz="1050" dirty="0"/>
          </a:p>
        </p:txBody>
      </p:sp>
      <p:sp>
        <p:nvSpPr>
          <p:cNvPr id="22" name="Text 20"/>
          <p:cNvSpPr txBox="1"/>
          <p:nvPr/>
        </p:nvSpPr>
        <p:spPr>
          <a:xfrm>
            <a:off x="2743200" y="4306824"/>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pooled ~0.6</a:t>
            </a:r>
            <a:endParaRPr lang="en-US" sz="1050" dirty="0"/>
          </a:p>
        </p:txBody>
      </p:sp>
      <p:sp>
        <p:nvSpPr>
          <p:cNvPr id="23" name="Shape 21"/>
          <p:cNvSpPr/>
          <p:nvPr/>
        </p:nvSpPr>
        <p:spPr>
          <a:xfrm>
            <a:off x="685800" y="4800600"/>
            <a:ext cx="3200400" cy="438912"/>
          </a:xfrm>
          <a:prstGeom prst="rect">
            <a:avLst/>
          </a:prstGeom>
          <a:solidFill>
            <a:srgbClr val="EFF2F6"/>
          </a:solidFill>
          <a:ln w="9525">
            <a:solidFill>
              <a:srgbClr val="E1E6ED"/>
            </a:solidFill>
            <a:prstDash val="solid"/>
          </a:ln>
        </p:spPr>
      </p:sp>
      <p:sp>
        <p:nvSpPr>
          <p:cNvPr id="24" name="Text 22"/>
          <p:cNvSpPr txBox="1"/>
          <p:nvPr/>
        </p:nvSpPr>
        <p:spPr>
          <a:xfrm>
            <a:off x="822960" y="4800600"/>
            <a:ext cx="1920240" cy="438912"/>
          </a:xfrm>
          <a:prstGeom prst="rect">
            <a:avLst/>
          </a:prstGeom>
          <a:noFill/>
          <a:ln/>
        </p:spPr>
        <p:txBody>
          <a:bodyPr wrap="square" rtlCol="0" anchor="ctr"/>
          <a:lstStyle/>
          <a:p>
            <a:pPr indent="0" marL="0">
              <a:buNone/>
            </a:pPr>
            <a:r>
              <a:rPr lang="en-US" sz="1050" dirty="0">
                <a:solidFill>
                  <a:srgbClr val="1E2530"/>
                </a:solidFill>
                <a:latin typeface="Calibri" pitchFamily="34" charset="0"/>
                <a:ea typeface="Calibri" pitchFamily="34" charset="-122"/>
                <a:cs typeface="Calibri" pitchFamily="34" charset="-120"/>
              </a:rPr>
              <a:t>Architect</a:t>
            </a:r>
            <a:endParaRPr lang="en-US" sz="1050" dirty="0"/>
          </a:p>
        </p:txBody>
      </p:sp>
      <p:sp>
        <p:nvSpPr>
          <p:cNvPr id="25" name="Text 23"/>
          <p:cNvSpPr txBox="1"/>
          <p:nvPr/>
        </p:nvSpPr>
        <p:spPr>
          <a:xfrm>
            <a:off x="2743200" y="4800600"/>
            <a:ext cx="1371600" cy="438912"/>
          </a:xfrm>
          <a:prstGeom prst="rect">
            <a:avLst/>
          </a:prstGeom>
          <a:noFill/>
          <a:ln/>
        </p:spPr>
        <p:txBody>
          <a:bodyPr wrap="square" rtlCol="0" anchor="ctr"/>
          <a:lstStyle/>
          <a:p>
            <a:pPr algn="r" indent="0" marL="0">
              <a:buNone/>
            </a:pPr>
            <a:r>
              <a:rPr lang="en-US" sz="1050" b="1" dirty="0">
                <a:solidFill>
                  <a:srgbClr val="173A5E"/>
                </a:solidFill>
                <a:latin typeface="Calibri" pitchFamily="34" charset="0"/>
                <a:ea typeface="Calibri" pitchFamily="34" charset="-122"/>
                <a:cs typeface="Calibri" pitchFamily="34" charset="-120"/>
              </a:rPr>
              <a:t>pooled ~0.6</a:t>
            </a:r>
            <a:endParaRPr lang="en-US" sz="1050" dirty="0"/>
          </a:p>
        </p:txBody>
      </p:sp>
      <p:sp>
        <p:nvSpPr>
          <p:cNvPr id="26" name="Text 24"/>
          <p:cNvSpPr txBox="1"/>
          <p:nvPr/>
        </p:nvSpPr>
        <p:spPr>
          <a:xfrm>
            <a:off x="685800" y="5385816"/>
            <a:ext cx="3200400" cy="9144"/>
          </a:xfrm>
          <a:prstGeom prst="rect">
            <a:avLst/>
          </a:prstGeom>
          <a:noFill/>
          <a:ln/>
        </p:spPr>
        <p:txBody>
          <a:bodyPr wrap="square" rtlCol="0" anchor="t"/>
          <a:lstStyle/>
          <a:p>
            <a:pPr indent="0" marL="0">
              <a:lnSpc>
                <a:spcPct val="115000"/>
              </a:lnSpc>
              <a:buNone/>
            </a:pPr>
            <a:r>
              <a:rPr lang="en-US" sz="900" dirty="0">
                <a:solidFill>
                  <a:srgbClr val="6B7280"/>
                </a:solidFill>
                <a:latin typeface="Calibri" pitchFamily="34" charset="0"/>
                <a:ea typeface="Calibri" pitchFamily="34" charset="-122"/>
                <a:cs typeface="Calibri" pitchFamily="34" charset="-120"/>
              </a:rPr>
              <a:t>Embedded roles (BA/BSA, Dev, Tester) sit inside every pod. SRE, Scrum Master and Architect are pooled and shared across ~2 pods per cluster, completing each 8-10 person team.</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434840" y="1371600"/>
          <a:ext cx="7296912" cy="914400"/>
        </p:xfrm>
        <a:graphic>
          <a:graphicData uri="http://schemas.openxmlformats.org/drawingml/2006/table">
            <a:tbl>
              <a:tblPr/>
              <a:tblGrid>
                <a:gridCol w="1810512"/>
                <a:gridCol w="640080"/>
                <a:gridCol w="685800"/>
                <a:gridCol w="685800"/>
                <a:gridCol w="685800"/>
                <a:gridCol w="731520"/>
                <a:gridCol w="640080"/>
                <a:gridCol w="640080"/>
                <a:gridCol w="777240"/>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Cluster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Pods</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BA</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BSA</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Dev</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Tester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SRE</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SM</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Arch.</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173A5E"/>
                    </a:solidFill>
                  </a:tcPr>
                </a:tc>
              </a:tr>
              <a:tr h="402336">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GSSP Delivery Cluster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54.4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36.7</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7.3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BANCA Delivery Cluster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23.0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15.6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3.1</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r>
              <a:tr h="402336">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Web Services Cluster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8.6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5.8</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r h="402336">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Thick Client Cluster</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5.4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3.7</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0.7</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3F7FA"/>
                    </a:solidFill>
                  </a:tcPr>
                </a:tc>
              </a:tr>
              <a:tr h="402336">
                <a:tc>
                  <a:txBody>
                    <a:bodyPr/>
                    <a:lstStyle/>
                    <a:p>
                      <a:pPr algn="l" indent="0" marL="0">
                        <a:buNone/>
                      </a:pPr>
                      <a:r>
                        <a:rPr lang="en-US" sz="950" b="1" dirty="0">
                          <a:solidFill>
                            <a:srgbClr val="1E2530"/>
                          </a:solidFill>
                          <a:latin typeface="Calibri" pitchFamily="34" charset="0"/>
                          <a:ea typeface="Calibri" pitchFamily="34" charset="-122"/>
                          <a:cs typeface="Calibri" pitchFamily="34" charset="-120"/>
                        </a:rPr>
                        <a:t>Tail Applications Pod</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0.8</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0.8</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4.4</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0.6</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0.8</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394150"/>
                          </a:solidFill>
                          <a:latin typeface="Calibri" pitchFamily="34" charset="0"/>
                          <a:ea typeface="Calibri" pitchFamily="34" charset="-122"/>
                          <a:cs typeface="Calibri" pitchFamily="34" charset="-120"/>
                        </a:rPr>
                        <a:t>0.8</a:t>
                      </a:r>
                      <a:endParaRPr lang="en-US" sz="950" dirty="0">
                        <a:latin typeface="Calibri" charset="0"/>
                        <a:ea typeface="Calibri" charset="0"/>
                        <a:cs typeface="Calibri" charset="0"/>
                      </a:endParaRPr>
                    </a:p>
                  </a:txBody>
                  <a:tcPr marL="76200" marR="76200" marT="38100" marB="38100" anchor="ctr">
                    <a:lnL w="6350" cap="flat" cmpd="sng" algn="ctr">
                      <a:solidFill>
                        <a:srgbClr val="E1E6ED"/>
                      </a:solidFill>
                      <a:prstDash val="solid"/>
                      <a:round/>
                      <a:headEnd type="none" w="med" len="med"/>
                      <a:tailEnd type="none" w="med" len="med"/>
                    </a:lnL>
                    <a:lnR w="6350" cap="flat" cmpd="sng" algn="ctr">
                      <a:solidFill>
                        <a:srgbClr val="E1E6ED"/>
                      </a:solidFill>
                      <a:prstDash val="solid"/>
                      <a:round/>
                      <a:headEnd type="none" w="med" len="med"/>
                      <a:tailEnd type="none" w="med" len="med"/>
                    </a:lnR>
                    <a:lnT w="6350" cap="flat" cmpd="sng" algn="ctr">
                      <a:solidFill>
                        <a:srgbClr val="E1E6ED"/>
                      </a:solidFill>
                      <a:prstDash val="solid"/>
                      <a:round/>
                      <a:headEnd type="none" w="med" len="med"/>
                      <a:tailEnd type="none" w="med" len="med"/>
                    </a:lnT>
                    <a:lnB w="6350" cap="flat" cmpd="sng" algn="ctr">
                      <a:solidFill>
                        <a:srgbClr val="E1E6ED"/>
                      </a:solidFill>
                      <a:prstDash val="solid"/>
                      <a:round/>
                      <a:headEnd type="none" w="med" len="med"/>
                      <a:tailEnd type="none" w="med" len="med"/>
                    </a:lnB>
                    <a:solidFill>
                      <a:srgbClr val="FFFFFF"/>
                    </a:solidFill>
                  </a:tcPr>
                </a:tc>
              </a:tr>
            </a:tbl>
          </a:graphicData>
        </a:graphic>
      </p:graphicFrame>
      <p:sp>
        <p:nvSpPr>
          <p:cNvPr id="28" name="Shape 25"/>
          <p:cNvSpPr/>
          <p:nvPr/>
        </p:nvSpPr>
        <p:spPr>
          <a:xfrm>
            <a:off x="4434840" y="3794760"/>
            <a:ext cx="7296912" cy="365760"/>
          </a:xfrm>
          <a:prstGeom prst="rect">
            <a:avLst/>
          </a:prstGeom>
          <a:solidFill>
            <a:srgbClr val="1E2530"/>
          </a:solidFill>
          <a:ln/>
        </p:spPr>
      </p:sp>
      <p:sp>
        <p:nvSpPr>
          <p:cNvPr id="29" name="Text 26"/>
          <p:cNvSpPr txBox="1"/>
          <p:nvPr/>
        </p:nvSpPr>
        <p:spPr>
          <a:xfrm>
            <a:off x="4434840" y="3794760"/>
            <a:ext cx="1810512" cy="365760"/>
          </a:xfrm>
          <a:prstGeom prst="rect">
            <a:avLst/>
          </a:prstGeom>
          <a:noFill/>
          <a:ln/>
        </p:spPr>
        <p:txBody>
          <a:bodyPr wrap="square"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Domain total</a:t>
            </a:r>
            <a:endParaRPr lang="en-US" sz="950" dirty="0"/>
          </a:p>
        </p:txBody>
      </p:sp>
      <p:sp>
        <p:nvSpPr>
          <p:cNvPr id="30" name="Text 27"/>
          <p:cNvSpPr txBox="1"/>
          <p:nvPr/>
        </p:nvSpPr>
        <p:spPr>
          <a:xfrm>
            <a:off x="6245352" y="3794760"/>
            <a:ext cx="6400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29</a:t>
            </a:r>
            <a:endParaRPr lang="en-US" sz="950" dirty="0"/>
          </a:p>
        </p:txBody>
      </p:sp>
      <p:sp>
        <p:nvSpPr>
          <p:cNvPr id="31" name="Text 28"/>
          <p:cNvSpPr txBox="1"/>
          <p:nvPr/>
        </p:nvSpPr>
        <p:spPr>
          <a:xfrm>
            <a:off x="6885432" y="3794760"/>
            <a:ext cx="685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18.1</a:t>
            </a:r>
            <a:endParaRPr lang="en-US" sz="950" dirty="0"/>
          </a:p>
        </p:txBody>
      </p:sp>
      <p:sp>
        <p:nvSpPr>
          <p:cNvPr id="32" name="Text 29"/>
          <p:cNvSpPr txBox="1"/>
          <p:nvPr/>
        </p:nvSpPr>
        <p:spPr>
          <a:xfrm>
            <a:off x="7571232" y="3794760"/>
            <a:ext cx="685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18.1</a:t>
            </a:r>
            <a:endParaRPr lang="en-US" sz="950" dirty="0"/>
          </a:p>
        </p:txBody>
      </p:sp>
      <p:sp>
        <p:nvSpPr>
          <p:cNvPr id="33" name="Text 30"/>
          <p:cNvSpPr txBox="1"/>
          <p:nvPr/>
        </p:nvSpPr>
        <p:spPr>
          <a:xfrm>
            <a:off x="8257032" y="3794760"/>
            <a:ext cx="68580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95.8</a:t>
            </a:r>
            <a:endParaRPr lang="en-US" sz="950" dirty="0"/>
          </a:p>
        </p:txBody>
      </p:sp>
      <p:sp>
        <p:nvSpPr>
          <p:cNvPr id="34" name="Text 31"/>
          <p:cNvSpPr txBox="1"/>
          <p:nvPr/>
        </p:nvSpPr>
        <p:spPr>
          <a:xfrm>
            <a:off x="8942832" y="3794760"/>
            <a:ext cx="73152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64.7</a:t>
            </a:r>
            <a:endParaRPr lang="en-US" sz="950" dirty="0"/>
          </a:p>
        </p:txBody>
      </p:sp>
      <p:sp>
        <p:nvSpPr>
          <p:cNvPr id="35" name="Text 32"/>
          <p:cNvSpPr txBox="1"/>
          <p:nvPr/>
        </p:nvSpPr>
        <p:spPr>
          <a:xfrm>
            <a:off x="9674352" y="3794760"/>
            <a:ext cx="6400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12.9</a:t>
            </a:r>
            <a:endParaRPr lang="en-US" sz="950" dirty="0"/>
          </a:p>
        </p:txBody>
      </p:sp>
      <p:sp>
        <p:nvSpPr>
          <p:cNvPr id="36" name="Text 33"/>
          <p:cNvSpPr txBox="1"/>
          <p:nvPr/>
        </p:nvSpPr>
        <p:spPr>
          <a:xfrm>
            <a:off x="10314432" y="3794760"/>
            <a:ext cx="64008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18.1</a:t>
            </a:r>
            <a:endParaRPr lang="en-US" sz="950" dirty="0"/>
          </a:p>
        </p:txBody>
      </p:sp>
      <p:sp>
        <p:nvSpPr>
          <p:cNvPr id="37" name="Text 34"/>
          <p:cNvSpPr txBox="1"/>
          <p:nvPr/>
        </p:nvSpPr>
        <p:spPr>
          <a:xfrm>
            <a:off x="10954512" y="3794760"/>
            <a:ext cx="777240" cy="36576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18.1</a:t>
            </a:r>
            <a:endParaRPr lang="en-US" sz="950" dirty="0"/>
          </a:p>
        </p:txBody>
      </p:sp>
      <p:sp>
        <p:nvSpPr>
          <p:cNvPr id="38" name="Text 35"/>
          <p:cNvSpPr txBox="1"/>
          <p:nvPr/>
        </p:nvSpPr>
        <p:spPr>
          <a:xfrm>
            <a:off x="4434840" y="4297680"/>
            <a:ext cx="7296912" cy="731520"/>
          </a:xfrm>
          <a:prstGeom prst="rect">
            <a:avLst/>
          </a:prstGeom>
          <a:noFill/>
          <a:ln/>
        </p:spPr>
        <p:txBody>
          <a:bodyPr wrap="square" rtlCol="0" anchor="t"/>
          <a:lstStyle/>
          <a:p>
            <a:pPr indent="0" marL="0">
              <a:lnSpc>
                <a:spcPct val="115000"/>
              </a:lnSpc>
              <a:buNone/>
            </a:pPr>
            <a:r>
              <a:rPr lang="en-US" sz="950" i="1" dirty="0">
                <a:solidFill>
                  <a:srgbClr val="6B7280"/>
                </a:solidFill>
                <a:latin typeface="Calibri" pitchFamily="34" charset="0"/>
                <a:ea typeface="Calibri" pitchFamily="34" charset="-122"/>
                <a:cs typeface="Calibri" pitchFamily="34" charset="-120"/>
              </a:rPr>
              <a:t>Fixed role-mix ratio verified directly from the source workbook's AD Scope (Assumed) split — identical percentages recur across every application in the domain.</a:t>
            </a:r>
            <a:endParaRPr lang="en-US" sz="950" dirty="0"/>
          </a:p>
        </p:txBody>
      </p:sp>
      <p:sp>
        <p:nvSpPr>
          <p:cNvPr id="39" name="Text 36"/>
          <p:cNvSpPr/>
          <p:nvPr/>
        </p:nvSpPr>
        <p:spPr>
          <a:xfrm>
            <a:off x="457200" y="6547104"/>
            <a:ext cx="685800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Capgemini response to MetLife Application Development Services RFP | Sales / Insurance Recruitment</a:t>
            </a:r>
            <a:endParaRPr lang="en-US" sz="850" dirty="0"/>
          </a:p>
        </p:txBody>
      </p:sp>
      <p:sp>
        <p:nvSpPr>
          <p:cNvPr id="40" name="Text 37"/>
          <p:cNvSpPr/>
          <p:nvPr/>
        </p:nvSpPr>
        <p:spPr>
          <a:xfrm>
            <a:off x="8348472" y="6547104"/>
            <a:ext cx="3108960" cy="237744"/>
          </a:xfrm>
          <a:prstGeom prst="rect">
            <a:avLst/>
          </a:prstGeom>
          <a:noFill/>
          <a:ln/>
        </p:spPr>
        <p:txBody>
          <a:bodyPr wrap="square" rtlCol="0" anchor="ctr"/>
          <a:lstStyle/>
          <a:p>
            <a:pPr algn="r" indent="0" marL="0">
              <a:buNone/>
            </a:pPr>
            <a:r>
              <a:rPr lang="en-US" sz="850" dirty="0">
                <a:solidFill>
                  <a:srgbClr val="8590A8"/>
                </a:solidFill>
                <a:latin typeface="Calibri" pitchFamily="34" charset="0"/>
                <a:ea typeface="Calibri" pitchFamily="34" charset="-122"/>
                <a:cs typeface="Calibri" pitchFamily="34" charset="-120"/>
              </a:rPr>
              <a:t>Company Confidential © Capgemini 2026</a:t>
            </a:r>
            <a:endParaRPr lang="en-US" sz="850" dirty="0"/>
          </a:p>
        </p:txBody>
      </p:sp>
      <p:sp>
        <p:nvSpPr>
          <p:cNvPr id="41" name="Text 38"/>
          <p:cNvSpPr/>
          <p:nvPr/>
        </p:nvSpPr>
        <p:spPr>
          <a:xfrm>
            <a:off x="11530584" y="6547104"/>
            <a:ext cx="274320" cy="237744"/>
          </a:xfrm>
          <a:prstGeom prst="rect">
            <a:avLst/>
          </a:prstGeom>
          <a:noFill/>
          <a:ln/>
        </p:spPr>
        <p:txBody>
          <a:bodyPr wrap="square" rtlCol="0" anchor="ctr"/>
          <a:lstStyle/>
          <a:p>
            <a:pPr indent="0" marL="0">
              <a:buNone/>
            </a:pPr>
            <a:r>
              <a:rPr lang="en-US" sz="850" dirty="0">
                <a:solidFill>
                  <a:srgbClr val="8590A8"/>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2026-09-02T03:38:16Z</dcterms:created>
  <dcterms:modified xsi:type="dcterms:W3CDTF">2026-09-02T03:38:16Z</dcterms:modified>
</cp:coreProperties>
</file>