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Arial"/>
              </a:rPr>
              <a:t>Applications by Cloud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5395"/>
              </a:solidFill>
              <a:effectLst/>
            </c:spPr>
          </c:dPt>
          <c:dPt>
            <c:idx val="1"/>
            <c:bubble3D val="0"/>
            <c:spPr>
              <a:solidFill>
                <a:srgbClr val="D98E0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Non-Cloud</c:v>
                </c:pt>
                <c:pt idx="1">
                  <c:v>Cloud-Enabled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72</c:v>
                </c:pt>
                <c:pt idx="1">
                  <c:v>42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Non-Cloud</c:v>
                </c:pt>
              </c:strCache>
            </c:strRef>
          </c:tx>
          <c:spPr>
            <a:solidFill>
              <a:srgbClr val="2E539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Corporate</c:v>
                  </c:pt>
                  <c:pt idx="1">
                    <c:v>Storage and Preservation</c:v>
                  </c:pt>
                  <c:pt idx="2">
                    <c:v>New Contract</c:v>
                  </c:pt>
                  <c:pt idx="3">
                    <c:v>Marketing/Direct Business</c:v>
                  </c:pt>
                  <c:pt idx="4">
                    <c:v>Customer Care / Call Center</c:v>
                  </c:pt>
                  <c:pt idx="5">
                    <c:v>Claims &amp; Benefits Payment</c:v>
                  </c:pt>
                  <c:pt idx="6">
                    <c:v>Sales / Insurance Recruitment</c:v>
                  </c:pt>
                  <c:pt idx="7">
                    <c:v>Common Service Platform</c:v>
                  </c:pt>
                  <c:pt idx="8">
                    <c:v>Data Infrastructure</c:v>
                  </c:pt>
                  <c:pt idx="9">
                    <c:v>Fee Management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</c:v>
                </c:pt>
                <c:pt idx="1">
                  <c:v>13</c:v>
                </c:pt>
                <c:pt idx="2">
                  <c:v>10</c:v>
                </c:pt>
                <c:pt idx="3">
                  <c:v>7</c:v>
                </c:pt>
                <c:pt idx="4">
                  <c:v>5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  <c:pt idx="8">
                  <c:v>1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Cloud</c:v>
                </c:pt>
              </c:strCache>
            </c:strRef>
          </c:tx>
          <c:spPr>
            <a:solidFill>
              <a:srgbClr val="D98E0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Corporate</c:v>
                  </c:pt>
                  <c:pt idx="1">
                    <c:v>Storage and Preservation</c:v>
                  </c:pt>
                  <c:pt idx="2">
                    <c:v>New Contract</c:v>
                  </c:pt>
                  <c:pt idx="3">
                    <c:v>Marketing/Direct Business</c:v>
                  </c:pt>
                  <c:pt idx="4">
                    <c:v>Customer Care / Call Center</c:v>
                  </c:pt>
                  <c:pt idx="5">
                    <c:v>Claims &amp; Benefits Payment</c:v>
                  </c:pt>
                  <c:pt idx="6">
                    <c:v>Sales / Insurance Recruitment</c:v>
                  </c:pt>
                  <c:pt idx="7">
                    <c:v>Common Service Platform</c:v>
                  </c:pt>
                  <c:pt idx="8">
                    <c:v>Data Infrastructure</c:v>
                  </c:pt>
                  <c:pt idx="9">
                    <c:v>Fee Management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  <c:pt idx="6">
                  <c:v>9</c:v>
                </c:pt>
                <c:pt idx="7">
                  <c:v>7</c:v>
                </c:pt>
                <c:pt idx="8">
                  <c:v>2</c:v>
                </c:pt>
                <c:pt idx="9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4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864"/>
                </a:solidFill>
                <a:latin typeface="Arial"/>
              </a:rPr>
              <a:t>App Count by Stack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2E539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Java</c:v>
                  </c:pt>
                  <c:pt idx="1">
                    <c:v>VB/VB.NET</c:v>
                  </c:pt>
                  <c:pt idx="2">
                    <c:v>Other</c:v>
                  </c:pt>
                  <c:pt idx="3">
                    <c:v>Mainframe (COBOL/Asm/JCL)</c:v>
                  </c:pt>
                  <c:pt idx="4">
                    <c:v>PL/SQL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20</c:v>
                </c:pt>
                <c:pt idx="2">
                  <c:v>10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864"/>
                </a:solidFill>
                <a:latin typeface="Arial"/>
              </a:rPr>
              <a:t>FTE-Equiv Effort by Stack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FTE-Equiv Effort</c:v>
                </c:pt>
              </c:strCache>
            </c:strRef>
          </c:tx>
          <c:spPr>
            <a:solidFill>
              <a:srgbClr val="D98E0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Java</c:v>
                  </c:pt>
                  <c:pt idx="1">
                    <c:v>VB/VB.NET</c:v>
                  </c:pt>
                  <c:pt idx="2">
                    <c:v>Other</c:v>
                  </c:pt>
                  <c:pt idx="3">
                    <c:v>Mainframe (COBOL/Asm/JCL)</c:v>
                  </c:pt>
                  <c:pt idx="4">
                    <c:v>PL/SQL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184</c:v>
                </c:pt>
                <c:pt idx="1">
                  <c:v>89.2</c:v>
                </c:pt>
                <c:pt idx="2">
                  <c:v>44.9</c:v>
                </c:pt>
                <c:pt idx="3">
                  <c:v>8.2</c:v>
                </c:pt>
                <c:pt idx="4">
                  <c:v>5.4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4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Arial"/>
              </a:rPr>
              <a:t>All 114 In-Scope Applications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In-Scope Apps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5395"/>
              </a:solidFill>
              <a:effectLst/>
            </c:spPr>
          </c:dPt>
          <c:dPt>
            <c:idx val="1"/>
            <c:bubble3D val="0"/>
            <c:spPr>
              <a:solidFill>
                <a:srgbClr val="D98E0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MetLife-Owned</c:v>
                </c:pt>
                <c:pt idx="1">
                  <c:v>Non-MetLife / COTS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96</c:v>
                </c:pt>
                <c:pt idx="1">
                  <c:v>18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5029200" cy="502920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937760"/>
            <a:ext cx="3566160" cy="3566160"/>
          </a:xfrm>
          <a:prstGeom prst="ellipse">
            <a:avLst/>
          </a:prstGeom>
          <a:solidFill>
            <a:srgbClr val="24447A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5669280"/>
            <a:ext cx="2103120" cy="210312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48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MLJ CLOUD TRANSFORMATION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 Assessment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EA Inventory Analysis  —  Prepared to Inform RFP Scope of 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25,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 This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6367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Scope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84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scope, what's excluded, and the headline numbers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7797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Snapshot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127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adoption, technology stack, and ownership profile today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9227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Transformation Clusters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270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clusters sized by effort, criticality, and complexity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0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0657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RFP Scope &amp; Risks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5413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Sequencing, vendor capabilities, and what to watch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MLJ Stands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applications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in scope for this assessment.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of them (63%)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remain on-premises today, representing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 of 1273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 FTE-equivalent effort. Applications already migrated account for a disproportionate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effort despite being only 37% of the count — the non-cloud estate is a long tail with no single dominant cluster.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715768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Not Yet Cloud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715768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3566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FTE-Equiv. Effort (Non-Cloud)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715768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3566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Non-Cloud Apps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52560" y="2715768"/>
            <a:ext cx="2606040" cy="8503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44000" y="3566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Non-Cloud COTS/3rd-Party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opportunity:  </a:t>
            </a:r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workflow platform (62.6 FTE-equiv, critical) — target architecture already names its successor.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criticality concentration:  </a:t>
            </a:r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&amp; Benefits Payment — 61.1 FTE-equiv across just 4 apps, 3 critical.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EXCLUSION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Policy Administration Mainframe Estate Is Out of Scope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management domain — the mainframe-hosted “LC” / LifeComm policy administration suite (point-of-sale, billing, collections, correspondence, underwriting, payment, GL, agent compensation, valuation, and reinsurance processing on IBM mainframe) — has been excluded from this assessment. Every figure, table, and cluster in this deck describes the remaining in-scope estate only.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2E539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51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4956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Excluded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41605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2E5395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4251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230.7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97680" y="4956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FTE-Equiv. Effort Excluded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41605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2E5395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4251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955280" y="4956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Apps Excluded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Adoption Snapshot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120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00200"/>
            <a:ext cx="57607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080760" y="16002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in-scope applications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92640" y="160020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2167128"/>
            <a:ext cx="5760720" cy="566928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9" name="Text 6"/>
          <p:cNvSpPr/>
          <p:nvPr/>
        </p:nvSpPr>
        <p:spPr>
          <a:xfrm>
            <a:off x="6080760" y="216712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cloud-enabled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92640" y="21671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 (37%)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734056"/>
            <a:ext cx="57607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6080760" y="273405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cloud-enabled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92640" y="273405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 (63%)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3300984"/>
            <a:ext cx="5760720" cy="566928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330098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FTE-equiv. effort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92640" y="33009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3867912"/>
            <a:ext cx="57607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080760" y="386791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FTE-equiv. — cloud apps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692640" y="38679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942  (74%)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43600" y="4434840"/>
            <a:ext cx="5760720" cy="566928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21" name="Text 18"/>
          <p:cNvSpPr/>
          <p:nvPr/>
        </p:nvSpPr>
        <p:spPr>
          <a:xfrm>
            <a:off x="6080760" y="44348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FTE-equiv. — non-cloud apps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692640" y="44348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  (26%)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943600" y="5138928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is already the dominant migration pattern (27 of 42 cloud apps) — recommend PaaS-first as the default disposition going forward.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Adoption by Business Domain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Sales/distribution-facing domains are already largely cloud; back-office and document-processing domains remain mostly on-premises.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783080"/>
          <a:ext cx="11430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Non-Cloud 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72 in-scope non-cloud applications break down by primary language as follows. Java and VB.NET dominate; only 2 apps retain a mainframe footprint (both small Corporate Related utilities).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63640" y="196596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Ownership Profile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1206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1600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× Cloud Status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035040" y="2103120"/>
            <a:ext cx="566928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4"/>
          <p:cNvSpPr/>
          <p:nvPr/>
        </p:nvSpPr>
        <p:spPr>
          <a:xfrm>
            <a:off x="617220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95360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Non-Cloud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92640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789920" y="2103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35040" y="2606040"/>
            <a:ext cx="5669280" cy="502920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MetLife-Owned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95360" y="2606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692640" y="2606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789920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35040" y="3108960"/>
            <a:ext cx="56692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3108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Non-MetLife / COTS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595360" y="3108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692640" y="3108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789920" y="3108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035040" y="3611880"/>
            <a:ext cx="5669280" cy="502920"/>
          </a:xfrm>
          <a:prstGeom prst="rect">
            <a:avLst/>
          </a:prstGeom>
          <a:solidFill>
            <a:srgbClr val="DCE6F1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595360" y="36118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692640" y="36118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078992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035040" y="443484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Non-MetLife/COTS applications need a different transformation lever than rehost/replatform/refactor — a SaaS or cloud-edition negotiation with the vendor. The excluded mainframe estate (28 apps) is 100% MetLife-owned code.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CLUSTERS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Priority Opportunities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72 in-scope non-cloud applications group into six clusters, each with a recommended 6-Rs disposition.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57600" cy="1691640"/>
          </a:xfrm>
          <a:prstGeom prst="roundRect">
            <a:avLst>
              <a:gd name="adj" fmla="val 3784"/>
            </a:avLst>
          </a:prstGeom>
          <a:solidFill>
            <a:srgbClr val="F2F6FC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993392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993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9568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Workflow Management Platform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" y="2542032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apps  •  62.6 FTE  •  1 critical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7512" y="288036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" y="3154680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 already names Power Automate as successor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3657600" cy="1691640"/>
          </a:xfrm>
          <a:prstGeom prst="roundRect">
            <a:avLst>
              <a:gd name="adj" fmla="val 3784"/>
            </a:avLst>
          </a:prstGeom>
          <a:solidFill>
            <a:srgbClr val="F2F6FC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62272" y="1993392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1993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19568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Preservation / Document Mgmt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62272" y="2542032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apps  •  44.7 FTE  •  3 critical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62272" y="288036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REPLATFORM (PAAS/SAAS)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62272" y="3154680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12 apps are COTS — blended replatform + SaaS approach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657600" cy="1691640"/>
          </a:xfrm>
          <a:prstGeom prst="roundRect">
            <a:avLst>
              <a:gd name="adj" fmla="val 3784"/>
            </a:avLst>
          </a:prstGeom>
          <a:solidFill>
            <a:srgbClr val="F2F6FC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57032" y="1993392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8257032" y="1993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78240" y="19568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&amp; Benefits Payment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57032" y="2542032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apps  •  61.1 FTE  •  3 critical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57032" y="288036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(AZURE PAAS)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57032" y="3154680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effort concentration per app; 3 of 4 critical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3685032"/>
            <a:ext cx="3657600" cy="1691640"/>
          </a:xfrm>
          <a:prstGeom prst="roundRect">
            <a:avLst>
              <a:gd name="adj" fmla="val 3784"/>
            </a:avLst>
          </a:prstGeom>
          <a:solidFill>
            <a:srgbClr val="F2F6FC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" y="3849624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88720" y="3813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Contract Related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7512" y="4398264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apps  •  40.4 FTE  •  1 critical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7512" y="4736592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REHOST / REPLATFORM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" y="5010912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criticality — good early quick-win wave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97680" y="3685032"/>
            <a:ext cx="3657600" cy="1691640"/>
          </a:xfrm>
          <a:prstGeom prst="roundRect">
            <a:avLst>
              <a:gd name="adj" fmla="val 3784"/>
            </a:avLst>
          </a:prstGeom>
          <a:solidFill>
            <a:srgbClr val="F2F6FC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62272" y="3849624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5" name="Text 33"/>
          <p:cNvSpPr/>
          <p:nvPr/>
        </p:nvSpPr>
        <p:spPr>
          <a:xfrm>
            <a:off x="4462272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983480" y="3813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Related Long Tail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462272" y="4398264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apps  •  40.3 FTE  •  5 critical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462272" y="4736592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RATIONALIZE, THEN REHOST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62272" y="5010912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2 residual mainframe utilities (A04MMP, A06TOG)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92440" y="3685032"/>
            <a:ext cx="3657600" cy="1691640"/>
          </a:xfrm>
          <a:prstGeom prst="roundRect">
            <a:avLst>
              <a:gd name="adj" fmla="val 3784"/>
            </a:avLst>
          </a:prstGeom>
          <a:solidFill>
            <a:srgbClr val="F2F6FC"/>
          </a:solidFill>
          <a:ln/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57032" y="3849624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2" name="Text 40"/>
          <p:cNvSpPr/>
          <p:nvPr/>
        </p:nvSpPr>
        <p:spPr>
          <a:xfrm>
            <a:off x="8257032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778240" y="3813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Small Non-Cloud Apps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257032" y="4398264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apps  •  82.6 FTE  •  0 critical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257032" y="4736592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REHOST / REPLATFORM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57032" y="5010912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Stragglers in domains that are otherwise already cloud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A &amp; Cluster 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57276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K2 Workflow Management Platform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6220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6220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5364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2148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2148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1292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2044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REPLACE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 already names Power Automate as successor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80060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applications by effort: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5120640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76142" y="5120640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46650" y="5120640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62.6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49440" y="157276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&amp; Preservation / Document Mgmt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26364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5508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292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2292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21436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98220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98220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07364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352044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352044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REPLATFORM (PAAS/SAAS)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411480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12 apps are COTS — blended replatform + SaaS approach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63640" y="480060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applications by effort: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5120640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W13WEP-JPN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636862" y="5120640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507370" y="5120640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63640" y="5431536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POS-IMS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636862" y="5431536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507370" y="5431536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63640" y="5742432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JP-RPASS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636862" y="5742432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507370" y="5742432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C &amp; Cluster 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57276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Claims &amp; Benefits Payment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6220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6220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5364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2148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2148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1292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2044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REFACTOR (AZURE PAAS)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effort concentration per app; 3 of 4 critical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80060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applications by effort: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5120640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C12WNC-JPN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76142" y="5120640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46650" y="5120640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5431536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W05AMS-JPN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76142" y="5431536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46650" y="5431536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5742432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76142" y="5742432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46650" y="5742432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49440" y="157276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Contract Related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26364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6364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5508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2292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2292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21436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98220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98220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007364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352044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352044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REHOST / REPLATFORM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63640" y="411480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criticality — good early quick-win wave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263640" y="480060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applications by effort: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5120640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NBAPPS-JPN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636862" y="5120640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507370" y="5120640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63640" y="5431536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C04NWC-JPN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636862" y="5431536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507370" y="5431536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63640" y="5742432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W04RRE-JPN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636862" y="5742432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507370" y="5742432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E &amp; Cluster 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57276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Related Long Tail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6220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6220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5364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2148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2148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1292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2044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RATIONALIZE, THEN REHOST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2 residual mainframe utilities (A04MMP, A06TOG)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80060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applications by effort: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5120640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WGLWLF-JPN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76142" y="5120640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46650" y="5120640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5431536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A06TOG-JPN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76142" y="5431536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46650" y="5431536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5742432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Batch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76142" y="5742432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46650" y="5742432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49440" y="157276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Small Non-Cloud Apps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26364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6364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5508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2292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2292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21436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982200" y="2286000"/>
            <a:ext cx="1722120" cy="1051560"/>
          </a:xfrm>
          <a:prstGeom prst="roundRect">
            <a:avLst>
              <a:gd name="adj" fmla="val 6957"/>
            </a:avLst>
          </a:prstGeom>
          <a:solidFill>
            <a:srgbClr val="F2F6FC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982200" y="2395728"/>
            <a:ext cx="1722120" cy="4846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0073640" y="2880360"/>
            <a:ext cx="1539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352044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352044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REHOST / REPLATFORM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63640" y="411480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Stragglers in domains that are otherwise already cloud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263640" y="480060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applications by effort: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5120640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WPSYEC-JPN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636862" y="5120640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507370" y="5120640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63640" y="5431536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P02BKE-JPN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636862" y="5431536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507370" y="5431536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63640" y="5742432"/>
            <a:ext cx="337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CMESB-JPN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636862" y="5742432"/>
            <a:ext cx="87050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507370" y="5742432"/>
            <a:ext cx="11969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Transformation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97480" cy="4480560"/>
          </a:xfrm>
          <a:prstGeom prst="roundRect">
            <a:avLst>
              <a:gd name="adj" fmla="val 2373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Low-risk quick wins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2331720" cy="0"/>
          </a:xfrm>
          <a:prstGeom prst="line">
            <a:avLst/>
          </a:prstGeom>
          <a:noFill/>
          <a:ln w="12700">
            <a:solidFill>
              <a:srgbClr val="3E5C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74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Clusters: D, F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2331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criticality, moderate effort; builds delivery momentum and validates the Azure landing zone / migration factory.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691640"/>
            <a:ext cx="2697480" cy="4480560"/>
          </a:xfrm>
          <a:prstGeom prst="roundRect">
            <a:avLst>
              <a:gd name="adj" fmla="val 2373"/>
            </a:avLst>
          </a:prstGeom>
          <a:solidFill>
            <a:srgbClr val="2E5395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920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(parallel)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02152" y="23774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Rationalization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02152" y="3337560"/>
            <a:ext cx="2331720" cy="0"/>
          </a:xfrm>
          <a:prstGeom prst="line">
            <a:avLst/>
          </a:prstGeom>
          <a:noFill/>
          <a:ln w="12700">
            <a:solidFill>
              <a:srgbClr val="3E5C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3474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Clusters: 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02152" y="3840480"/>
            <a:ext cx="2331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Retire/consolidate long-tail apps before migrating survivors; low cost, fast payback.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1691640"/>
            <a:ext cx="2697480" cy="4480560"/>
          </a:xfrm>
          <a:prstGeom prst="roundRect">
            <a:avLst>
              <a:gd name="adj" fmla="val 2373"/>
            </a:avLst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6364224" y="1920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4224" y="23774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replacement + ECM replatform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64224" y="3337560"/>
            <a:ext cx="2331720" cy="0"/>
          </a:xfrm>
          <a:prstGeom prst="line">
            <a:avLst/>
          </a:prstGeom>
          <a:noFill/>
          <a:ln w="12700">
            <a:solidFill>
              <a:srgbClr val="3E5C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3474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Clusters: A, B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64224" y="3840480"/>
            <a:ext cx="2331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→ Power Automate and document management modernization; target platforms already defined.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43416" y="1691640"/>
            <a:ext cx="2697480" cy="4480560"/>
          </a:xfrm>
          <a:prstGeom prst="roundRect">
            <a:avLst>
              <a:gd name="adj" fmla="val 2373"/>
            </a:avLst>
          </a:prstGeom>
          <a:solidFill>
            <a:srgbClr val="2E5395"/>
          </a:solidFill>
          <a:ln/>
        </p:spPr>
      </p:sp>
      <p:sp>
        <p:nvSpPr>
          <p:cNvPr id="23" name="Text 21"/>
          <p:cNvSpPr/>
          <p:nvPr/>
        </p:nvSpPr>
        <p:spPr>
          <a:xfrm>
            <a:off x="9226296" y="1920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26296" y="23774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&amp; benefits refactor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226296" y="3337560"/>
            <a:ext cx="2331720" cy="0"/>
          </a:xfrm>
          <a:prstGeom prst="line">
            <a:avLst/>
          </a:prstGeom>
          <a:noFill/>
          <a:ln w="12700">
            <a:solidFill>
              <a:srgbClr val="3E5C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26296" y="3474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Clusters: 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226296" y="3840480"/>
            <a:ext cx="2331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effort concentration in few critical apps; needs dedicated regression/cutover planning.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Capabilities the RFP Should Require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2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764792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61288" y="172821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PaaS Migration Factory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222199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Java/Spring Boot and .NET modernization at volume (Clusters B–F).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2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382512" y="1764792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76288" y="172821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Workflow Re-platforming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222199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experience migrating K2 (or comparable) logic to Power Automate (Cluster A).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2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364992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" y="332841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Landing Zone &amp; DevOps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" y="382219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 with Azure DevOps / GitHub Enterprise and the target Azure IaaS/PaaS + SaaS hosting model.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17920" y="320040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2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82512" y="3364992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76288" y="332841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Regulatory &amp; Language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82512" y="382219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Insurance-sector compliance experience and Japanese-language delivery capability.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02920" y="480060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2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512" y="4965192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61288" y="492861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COTS / Vendor Management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" y="542239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to negotiate cloud/SaaS editions for the 9 non-MetLife-owned non-cloud applications.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217920" y="480060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2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382512" y="4965192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76288" y="492861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Light-Touch Mainframe Support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82512" y="542239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COBOL/Assembler support for 2 residual utilities in Cluster E.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Considerations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2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764792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61288" y="172821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222199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dependencies between the excluded mainframe estate and in-scope clusters (e.g., K2 or claims apps integrating with LifeComm back-end processing) during technical discovery.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2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382512" y="1764792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6288" y="172821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 Concentration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222199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72 in-scope non-cloud apps (18%) are critical, concentrated in Cluster C (Claims) and Cluster A (K2). Plan rollback and regression testing accordingly.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2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364992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61288" y="332841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Mainframe Skill Need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" y="382219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small legacy-mainframe utilities remain in Cluster E — confirm the vendor can resource scarce COBOL/Assembler skills at this small scale.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20040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2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82512" y="3364992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6288" y="332841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COTS Dependency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82512" y="382219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non-cloud apps are non-MetLife-owned; their timeline is bounded by third-party vendor roadmaps, not MLJ's delivery capacity.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80060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2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512" y="4965192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61288" y="492861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Exposure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" y="542239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non-cloud app is internet-facing — low near-term attack-surface risk, but exposure should not increase before target security controls are in place.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480060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2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382512" y="4965192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6288" y="492861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Proxy Caveat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82512" y="5422392"/>
            <a:ext cx="5202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FTE-equivalent figures are a sizing proxy from current-state resourcing fields, not migration cost estimates — supplement with technical discovery for RFP-grade costing.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9718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cluster boundaries and dependencies with application owners, especially around the excluded mainframe estate.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37490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RFP scoped to the six in-scope clusters, sequenced per the Wave 1–3 roadmap.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411480" cy="41148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572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45262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vendor evaluation criteria around the 13 critical applications and COTS negotiation capability.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MLJ Cloud Transformation Opportunity Assessment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2026-08-26T05:07:14Z</dcterms:created>
  <dcterms:modified xsi:type="dcterms:W3CDTF">2026-08-26T05:07:14Z</dcterms:modified>
</cp:coreProperties>
</file>